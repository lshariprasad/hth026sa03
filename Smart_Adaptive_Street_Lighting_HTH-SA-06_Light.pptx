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4B5563"/>
            </a:solidFill>
            <a:ln w="31750" cap="flat">
              <a:solidFill>
                <a:srgbClr val="4B556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4B5563"/>
              </a:solidFill>
              <a:ln w="9525" cap="flat">
                <a:solidFill>
                  <a:srgbClr val="4B556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0h</c:v>
                  </c:pt>
                  <c:pt idx="1">
                    <c:v>1h</c:v>
                  </c:pt>
                  <c:pt idx="2">
                    <c:v>2h</c:v>
                  </c:pt>
                  <c:pt idx="3">
                    <c:v>3h</c:v>
                  </c:pt>
                  <c:pt idx="4">
                    <c:v>4h</c:v>
                  </c:pt>
                  <c:pt idx="5">
                    <c:v>5h</c:v>
                  </c:pt>
                  <c:pt idx="6">
                    <c:v>6h</c:v>
                  </c:pt>
                  <c:pt idx="7">
                    <c:v>7h</c:v>
                  </c:pt>
                  <c:pt idx="8">
                    <c:v>8h</c:v>
                  </c:pt>
                  <c:pt idx="9">
                    <c:v>9h</c:v>
                  </c:pt>
                  <c:pt idx="10">
                    <c:v>10h</c:v>
                  </c:pt>
                  <c:pt idx="11">
                    <c:v>11h</c:v>
                  </c:pt>
                  <c:pt idx="12">
                    <c:v>12h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</c:v>
                </c:pt>
                <c:pt idx="1">
                  <c:v>8.3</c:v>
                </c:pt>
                <c:pt idx="2">
                  <c:v>16.7</c:v>
                </c:pt>
                <c:pt idx="3">
                  <c:v>25</c:v>
                </c:pt>
                <c:pt idx="4">
                  <c:v>33.3</c:v>
                </c:pt>
                <c:pt idx="5">
                  <c:v>41.7</c:v>
                </c:pt>
                <c:pt idx="6">
                  <c:v>50</c:v>
                </c:pt>
                <c:pt idx="7">
                  <c:v>58.3</c:v>
                </c:pt>
                <c:pt idx="8">
                  <c:v>66.7</c:v>
                </c:pt>
                <c:pt idx="9">
                  <c:v>75</c:v>
                </c:pt>
                <c:pt idx="10">
                  <c:v>83.3</c:v>
                </c:pt>
                <c:pt idx="11">
                  <c:v>91.7</c:v>
                </c:pt>
                <c:pt idx="12">
                  <c:v>100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Adaptive</c:v>
                </c:pt>
              </c:strCache>
            </c:strRef>
          </c:tx>
          <c:spPr>
            <a:solidFill>
              <a:srgbClr val="15803D"/>
            </a:solidFill>
            <a:ln w="31750" cap="flat">
              <a:solidFill>
                <a:srgbClr val="1580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5803D"/>
              </a:solidFill>
              <a:ln w="9525" cap="flat">
                <a:solidFill>
                  <a:srgbClr val="1580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0h</c:v>
                  </c:pt>
                  <c:pt idx="1">
                    <c:v>1h</c:v>
                  </c:pt>
                  <c:pt idx="2">
                    <c:v>2h</c:v>
                  </c:pt>
                  <c:pt idx="3">
                    <c:v>3h</c:v>
                  </c:pt>
                  <c:pt idx="4">
                    <c:v>4h</c:v>
                  </c:pt>
                  <c:pt idx="5">
                    <c:v>5h</c:v>
                  </c:pt>
                  <c:pt idx="6">
                    <c:v>6h</c:v>
                  </c:pt>
                  <c:pt idx="7">
                    <c:v>7h</c:v>
                  </c:pt>
                  <c:pt idx="8">
                    <c:v>8h</c:v>
                  </c:pt>
                  <c:pt idx="9">
                    <c:v>9h</c:v>
                  </c:pt>
                  <c:pt idx="10">
                    <c:v>10h</c:v>
                  </c:pt>
                  <c:pt idx="11">
                    <c:v>11h</c:v>
                  </c:pt>
                  <c:pt idx="12">
                    <c:v>12h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</c:v>
                </c:pt>
                <c:pt idx="1">
                  <c:v>2.7</c:v>
                </c:pt>
                <c:pt idx="2">
                  <c:v>5.4</c:v>
                </c:pt>
                <c:pt idx="3">
                  <c:v>8.1</c:v>
                </c:pt>
                <c:pt idx="4">
                  <c:v>10.8</c:v>
                </c:pt>
                <c:pt idx="5">
                  <c:v>13.5</c:v>
                </c:pt>
                <c:pt idx="6">
                  <c:v>16.3</c:v>
                </c:pt>
                <c:pt idx="7">
                  <c:v>19</c:v>
                </c:pt>
                <c:pt idx="8">
                  <c:v>21.7</c:v>
                </c:pt>
                <c:pt idx="9">
                  <c:v>24.4</c:v>
                </c:pt>
                <c:pt idx="10">
                  <c:v>27.1</c:v>
                </c:pt>
                <c:pt idx="11">
                  <c:v>29.8</c:v>
                </c:pt>
                <c:pt idx="12">
                  <c:v>32.5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B5563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8CCA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B5563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B5563"/>
              </a:solidFill>
              <a:latin typeface="Times New Roman"/>
              <a:cs typeface="Times New Roman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8"/>
          <c:y val="0.08"/>
          <c:w val="0.9"/>
          <c:h val="0.7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 traffic</c:v>
                </c:pt>
              </c:strCache>
            </c:strRef>
          </c:tx>
          <c:spPr>
            <a:solidFill>
              <a:srgbClr val="15803D"/>
            </a:solidFill>
            <a:ln w="31750" cap="flat">
              <a:solidFill>
                <a:srgbClr val="1580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5803D"/>
              </a:solidFill>
              <a:ln w="9525" cap="flat">
                <a:solidFill>
                  <a:srgbClr val="1580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12 AM</c:v>
                  </c:pt>
                  <c:pt idx="1">
                    <c:v> </c:v>
                  </c:pt>
                  <c:pt idx="2">
                    <c:v> </c:v>
                  </c:pt>
                  <c:pt idx="3">
                    <c:v> </c:v>
                  </c:pt>
                  <c:pt idx="4">
                    <c:v>4 AM</c:v>
                  </c:pt>
                  <c:pt idx="5">
                    <c:v> </c:v>
                  </c:pt>
                  <c:pt idx="6">
                    <c:v> </c:v>
                  </c:pt>
                  <c:pt idx="7">
                    <c:v> </c:v>
                  </c:pt>
                  <c:pt idx="8">
                    <c:v>8 AM</c:v>
                  </c:pt>
                  <c:pt idx="9">
                    <c:v> </c:v>
                  </c:pt>
                  <c:pt idx="10">
                    <c:v> </c:v>
                  </c:pt>
                  <c:pt idx="11">
                    <c:v> </c:v>
                  </c:pt>
                  <c:pt idx="12">
                    <c:v>12 PM</c:v>
                  </c:pt>
                  <c:pt idx="13">
                    <c:v> </c:v>
                  </c:pt>
                  <c:pt idx="14">
                    <c:v> </c:v>
                  </c:pt>
                  <c:pt idx="15">
                    <c:v> </c:v>
                  </c:pt>
                  <c:pt idx="16">
                    <c:v>4 PM</c:v>
                  </c:pt>
                  <c:pt idx="17">
                    <c:v> </c:v>
                  </c:pt>
                  <c:pt idx="18">
                    <c:v> </c:v>
                  </c:pt>
                  <c:pt idx="19">
                    <c:v> </c:v>
                  </c:pt>
                  <c:pt idx="20">
                    <c:v>8 PM</c:v>
                  </c:pt>
                  <c:pt idx="21">
                    <c:v> </c:v>
                  </c:pt>
                  <c:pt idx="22">
                    <c:v> </c:v>
                  </c:pt>
                  <c:pt idx="23">
                    <c:v> 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  <c:pt idx="4">
                  <c:v>25</c:v>
                </c:pt>
                <c:pt idx="5">
                  <c:v>26</c:v>
                </c:pt>
                <c:pt idx="6">
                  <c:v>26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28</c:v>
                </c:pt>
                <c:pt idx="19">
                  <c:v>28</c:v>
                </c:pt>
                <c:pt idx="20">
                  <c:v>26</c:v>
                </c:pt>
                <c:pt idx="21">
                  <c:v>26</c:v>
                </c:pt>
                <c:pt idx="22">
                  <c:v>26</c:v>
                </c:pt>
                <c:pt idx="23">
                  <c:v>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traffic</c:v>
                </c:pt>
              </c:strCache>
            </c:strRef>
          </c:tx>
          <c:spPr>
            <a:solidFill>
              <a:srgbClr val="0E7490"/>
            </a:solidFill>
            <a:ln w="31750" cap="flat">
              <a:solidFill>
                <a:srgbClr val="0E74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E7490"/>
              </a:solidFill>
              <a:ln w="9525" cap="flat">
                <a:solidFill>
                  <a:srgbClr val="0E74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12 AM</c:v>
                  </c:pt>
                  <c:pt idx="1">
                    <c:v> </c:v>
                  </c:pt>
                  <c:pt idx="2">
                    <c:v> </c:v>
                  </c:pt>
                  <c:pt idx="3">
                    <c:v> </c:v>
                  </c:pt>
                  <c:pt idx="4">
                    <c:v>4 AM</c:v>
                  </c:pt>
                  <c:pt idx="5">
                    <c:v> </c:v>
                  </c:pt>
                  <c:pt idx="6">
                    <c:v> </c:v>
                  </c:pt>
                  <c:pt idx="7">
                    <c:v> </c:v>
                  </c:pt>
                  <c:pt idx="8">
                    <c:v>8 AM</c:v>
                  </c:pt>
                  <c:pt idx="9">
                    <c:v> </c:v>
                  </c:pt>
                  <c:pt idx="10">
                    <c:v> </c:v>
                  </c:pt>
                  <c:pt idx="11">
                    <c:v> </c:v>
                  </c:pt>
                  <c:pt idx="12">
                    <c:v>12 PM</c:v>
                  </c:pt>
                  <c:pt idx="13">
                    <c:v> </c:v>
                  </c:pt>
                  <c:pt idx="14">
                    <c:v> </c:v>
                  </c:pt>
                  <c:pt idx="15">
                    <c:v> </c:v>
                  </c:pt>
                  <c:pt idx="16">
                    <c:v>4 PM</c:v>
                  </c:pt>
                  <c:pt idx="17">
                    <c:v> </c:v>
                  </c:pt>
                  <c:pt idx="18">
                    <c:v> </c:v>
                  </c:pt>
                  <c:pt idx="19">
                    <c:v> </c:v>
                  </c:pt>
                  <c:pt idx="20">
                    <c:v>8 PM</c:v>
                  </c:pt>
                  <c:pt idx="21">
                    <c:v> </c:v>
                  </c:pt>
                  <c:pt idx="22">
                    <c:v> </c:v>
                  </c:pt>
                  <c:pt idx="23">
                    <c:v> </c:v>
                  </c:pt>
                </c:lvl>
              </c:multiLvlStrCache>
            </c:multiLvl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28</c:v>
                </c:pt>
                <c:pt idx="1">
                  <c:v>28</c:v>
                </c:pt>
                <c:pt idx="2">
                  <c:v>28</c:v>
                </c:pt>
                <c:pt idx="3">
                  <c:v>29</c:v>
                </c:pt>
                <c:pt idx="4">
                  <c:v>29</c:v>
                </c:pt>
                <c:pt idx="5">
                  <c:v>30</c:v>
                </c:pt>
                <c:pt idx="6">
                  <c:v>30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48</c:v>
                </c:pt>
                <c:pt idx="19">
                  <c:v>48</c:v>
                </c:pt>
                <c:pt idx="20">
                  <c:v>44</c:v>
                </c:pt>
                <c:pt idx="21">
                  <c:v>42</c:v>
                </c:pt>
                <c:pt idx="22">
                  <c:v>40</c:v>
                </c:pt>
                <c:pt idx="23">
                  <c:v>38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B5563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4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8CCA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B5563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8"/>
          <c:y val="0.08"/>
          <c:w val="0.9"/>
          <c:h val="0.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 traffic</c:v>
                </c:pt>
              </c:strCache>
            </c:strRef>
          </c:tx>
          <c:spPr>
            <a:solidFill>
              <a:srgbClr val="1580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Sheet1!$A$2:$A$25</c:f>
              <c:multiLvlStrCache>
                <c:ptCount val="24"/>
                <c:lvl>
                  <c:pt idx="0">
                    <c:v>12 AM</c:v>
                  </c:pt>
                  <c:pt idx="1">
                    <c:v> </c:v>
                  </c:pt>
                  <c:pt idx="2">
                    <c:v> </c:v>
                  </c:pt>
                  <c:pt idx="3">
                    <c:v> </c:v>
                  </c:pt>
                  <c:pt idx="4">
                    <c:v>4 AM</c:v>
                  </c:pt>
                  <c:pt idx="5">
                    <c:v> </c:v>
                  </c:pt>
                  <c:pt idx="6">
                    <c:v> </c:v>
                  </c:pt>
                  <c:pt idx="7">
                    <c:v> </c:v>
                  </c:pt>
                  <c:pt idx="8">
                    <c:v>8 AM</c:v>
                  </c:pt>
                  <c:pt idx="9">
                    <c:v> </c:v>
                  </c:pt>
                  <c:pt idx="10">
                    <c:v> </c:v>
                  </c:pt>
                  <c:pt idx="11">
                    <c:v> </c:v>
                  </c:pt>
                  <c:pt idx="12">
                    <c:v>12 PM</c:v>
                  </c:pt>
                  <c:pt idx="13">
                    <c:v> </c:v>
                  </c:pt>
                  <c:pt idx="14">
                    <c:v> </c:v>
                  </c:pt>
                  <c:pt idx="15">
                    <c:v> </c:v>
                  </c:pt>
                  <c:pt idx="16">
                    <c:v>4 PM</c:v>
                  </c:pt>
                  <c:pt idx="17">
                    <c:v> </c:v>
                  </c:pt>
                  <c:pt idx="18">
                    <c:v> </c:v>
                  </c:pt>
                  <c:pt idx="19">
                    <c:v> </c:v>
                  </c:pt>
                  <c:pt idx="20">
                    <c:v>8 PM</c:v>
                  </c:pt>
                  <c:pt idx="21">
                    <c:v> </c:v>
                  </c:pt>
                  <c:pt idx="22">
                    <c:v> </c:v>
                  </c:pt>
                  <c:pt idx="23">
                    <c:v> 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2</c:v>
                </c:pt>
                <c:pt idx="6">
                  <c:v>2</c:v>
                </c:pt>
                <c:pt idx="7">
                  <c:v>7</c:v>
                </c:pt>
                <c:pt idx="8">
                  <c:v>8</c:v>
                </c:pt>
                <c:pt idx="9">
                  <c:v>6</c:v>
                </c:pt>
                <c:pt idx="10">
                  <c:v>7</c:v>
                </c:pt>
                <c:pt idx="11">
                  <c:v>8</c:v>
                </c:pt>
                <c:pt idx="12">
                  <c:v>6</c:v>
                </c:pt>
                <c:pt idx="13">
                  <c:v>7</c:v>
                </c:pt>
                <c:pt idx="14">
                  <c:v>8</c:v>
                </c:pt>
                <c:pt idx="15">
                  <c:v>6</c:v>
                </c:pt>
                <c:pt idx="16">
                  <c:v>7</c:v>
                </c:pt>
                <c:pt idx="17">
                  <c:v>8</c:v>
                </c:pt>
                <c:pt idx="18">
                  <c:v>8</c:v>
                </c:pt>
                <c:pt idx="19">
                  <c:v>8</c:v>
                </c:pt>
                <c:pt idx="20">
                  <c:v>2</c:v>
                </c:pt>
                <c:pt idx="21">
                  <c:v>2</c:v>
                </c:pt>
                <c:pt idx="22">
                  <c:v>2</c:v>
                </c:pt>
                <c:pt idx="23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traffic</c:v>
                </c:pt>
              </c:strCache>
            </c:strRef>
          </c:tx>
          <c:spPr>
            <a:solidFill>
              <a:srgbClr val="0E74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Sheet1!$A$2:$A$25</c:f>
              <c:multiLvlStrCache>
                <c:ptCount val="24"/>
                <c:lvl>
                  <c:pt idx="0">
                    <c:v>12 AM</c:v>
                  </c:pt>
                  <c:pt idx="1">
                    <c:v> </c:v>
                  </c:pt>
                  <c:pt idx="2">
                    <c:v> </c:v>
                  </c:pt>
                  <c:pt idx="3">
                    <c:v> </c:v>
                  </c:pt>
                  <c:pt idx="4">
                    <c:v>4 AM</c:v>
                  </c:pt>
                  <c:pt idx="5">
                    <c:v> </c:v>
                  </c:pt>
                  <c:pt idx="6">
                    <c:v> </c:v>
                  </c:pt>
                  <c:pt idx="7">
                    <c:v> </c:v>
                  </c:pt>
                  <c:pt idx="8">
                    <c:v>8 AM</c:v>
                  </c:pt>
                  <c:pt idx="9">
                    <c:v> </c:v>
                  </c:pt>
                  <c:pt idx="10">
                    <c:v> </c:v>
                  </c:pt>
                  <c:pt idx="11">
                    <c:v> </c:v>
                  </c:pt>
                  <c:pt idx="12">
                    <c:v>12 PM</c:v>
                  </c:pt>
                  <c:pt idx="13">
                    <c:v> </c:v>
                  </c:pt>
                  <c:pt idx="14">
                    <c:v> </c:v>
                  </c:pt>
                  <c:pt idx="15">
                    <c:v> </c:v>
                  </c:pt>
                  <c:pt idx="16">
                    <c:v>4 PM</c:v>
                  </c:pt>
                  <c:pt idx="17">
                    <c:v> </c:v>
                  </c:pt>
                  <c:pt idx="18">
                    <c:v> </c:v>
                  </c:pt>
                  <c:pt idx="19">
                    <c:v> </c:v>
                  </c:pt>
                  <c:pt idx="20">
                    <c:v>8 PM</c:v>
                  </c:pt>
                  <c:pt idx="21">
                    <c:v> </c:v>
                  </c:pt>
                  <c:pt idx="22">
                    <c:v> </c:v>
                  </c:pt>
                  <c:pt idx="23">
                    <c:v> </c:v>
                  </c:pt>
                </c:lvl>
              </c:multiLvlStrCache>
            </c:multiLvl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37</c:v>
                </c:pt>
                <c:pt idx="8">
                  <c:v>28</c:v>
                </c:pt>
                <c:pt idx="9">
                  <c:v>31</c:v>
                </c:pt>
                <c:pt idx="10">
                  <c:v>34</c:v>
                </c:pt>
                <c:pt idx="11">
                  <c:v>37</c:v>
                </c:pt>
                <c:pt idx="12">
                  <c:v>28</c:v>
                </c:pt>
                <c:pt idx="13">
                  <c:v>31</c:v>
                </c:pt>
                <c:pt idx="14">
                  <c:v>34</c:v>
                </c:pt>
                <c:pt idx="15">
                  <c:v>37</c:v>
                </c:pt>
                <c:pt idx="16">
                  <c:v>28</c:v>
                </c:pt>
                <c:pt idx="17">
                  <c:v>55</c:v>
                </c:pt>
                <c:pt idx="18">
                  <c:v>55</c:v>
                </c:pt>
                <c:pt idx="19">
                  <c:v>55</c:v>
                </c:pt>
                <c:pt idx="20">
                  <c:v>45</c:v>
                </c:pt>
                <c:pt idx="21">
                  <c:v>40</c:v>
                </c:pt>
                <c:pt idx="22">
                  <c:v>35</c:v>
                </c:pt>
                <c:pt idx="23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B5563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4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CCA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B5563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HACK THE HORIZON 2.0  ·  KPR Institute of Engineering and Technology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IEEE Computational Intelligence Society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49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HTH-SA-06  |  SMART CITY / MUNICIPAL ENERGY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6309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ADAPTIVE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STREET LIGHTING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8892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E749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Occupancy &amp; Footfall-Responsive Intelligent Lighting System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204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1580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“Light only when needed. Respond instantly when it matters.”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1148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IoT-enabled adaptive lighting system combining ambient-light sensing, motion detection, intelligent brightness control, energy monitoring and distributed ESP32 communication.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512064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FAF5E6"/>
          </a:solidFill>
          <a:ln w="12700">
            <a:solidFill>
              <a:srgbClr val="0E749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LDR + PIR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892808" y="5349240"/>
            <a:ext cx="228600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148840" y="512064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FAF5E6"/>
          </a:solidFill>
          <a:ln w="12700">
            <a:solidFill>
              <a:srgbClr val="0E749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ESP32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93008" y="5349240"/>
            <a:ext cx="228600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749040" y="512064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FAF5E6"/>
          </a:solidFill>
          <a:ln w="12700">
            <a:solidFill>
              <a:srgbClr val="0E749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Adaptive LED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93208" y="5349240"/>
            <a:ext cx="228600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349240" y="512064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FAF5E6"/>
          </a:solidFill>
          <a:ln w="12700">
            <a:solidFill>
              <a:srgbClr val="0E749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Energy Monitoring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172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NAME  |  Saveetha School of Engineering, SIMATS  |  TEAM MEMBERS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40880" y="548640"/>
            <a:ext cx="4572000" cy="5760720"/>
          </a:xfrm>
          <a:prstGeom prst="roundRect">
            <a:avLst>
              <a:gd name="adj" fmla="val 1600"/>
            </a:avLst>
          </a:prstGeom>
          <a:solidFill>
            <a:srgbClr val="0C1628"/>
          </a:solidFill>
          <a:ln w="9525">
            <a:solidFill>
              <a:srgbClr val="2337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2194560"/>
            <a:ext cx="640080" cy="2377440"/>
          </a:xfrm>
          <a:prstGeom prst="rect">
            <a:avLst/>
          </a:prstGeom>
          <a:solidFill>
            <a:srgbClr val="111E36"/>
          </a:solidFill>
          <a:ln w="12700">
            <a:solidFill>
              <a:srgbClr val="111E36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06640" y="2468880"/>
            <a:ext cx="91440" cy="109728"/>
          </a:xfrm>
          <a:prstGeom prst="rect">
            <a:avLst/>
          </a:prstGeom>
          <a:solidFill>
            <a:srgbClr val="22D3EE">
              <a:alpha val="2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06640" y="2926080"/>
            <a:ext cx="91440" cy="109728"/>
          </a:xfrm>
          <a:prstGeom prst="rect">
            <a:avLst/>
          </a:prstGeom>
          <a:solidFill>
            <a:srgbClr val="22D3EE">
              <a:alpha val="2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06640" y="3383280"/>
            <a:ext cx="91440" cy="109728"/>
          </a:xfrm>
          <a:prstGeom prst="rect">
            <a:avLst/>
          </a:prstGeom>
          <a:solidFill>
            <a:srgbClr val="22D3EE">
              <a:alpha val="2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92440" y="2743200"/>
            <a:ext cx="502920" cy="1828800"/>
          </a:xfrm>
          <a:prstGeom prst="rect">
            <a:avLst/>
          </a:prstGeom>
          <a:solidFill>
            <a:srgbClr val="111E36"/>
          </a:solidFill>
          <a:ln w="12700">
            <a:solidFill>
              <a:srgbClr val="111E36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83880" y="3017520"/>
            <a:ext cx="91440" cy="109728"/>
          </a:xfrm>
          <a:prstGeom prst="rect">
            <a:avLst/>
          </a:prstGeom>
          <a:solidFill>
            <a:srgbClr val="22D3EE">
              <a:alpha val="2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83880" y="3474720"/>
            <a:ext cx="91440" cy="109728"/>
          </a:xfrm>
          <a:prstGeom prst="rect">
            <a:avLst/>
          </a:prstGeom>
          <a:solidFill>
            <a:srgbClr val="22D3EE">
              <a:alpha val="2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931920"/>
            <a:ext cx="91440" cy="109728"/>
          </a:xfrm>
          <a:prstGeom prst="rect">
            <a:avLst/>
          </a:prstGeom>
          <a:solidFill>
            <a:srgbClr val="22D3EE">
              <a:alpha val="2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72800" y="2011680"/>
            <a:ext cx="548640" cy="2560320"/>
          </a:xfrm>
          <a:prstGeom prst="rect">
            <a:avLst/>
          </a:prstGeom>
          <a:solidFill>
            <a:srgbClr val="111E36"/>
          </a:solidFill>
          <a:ln w="12700">
            <a:solidFill>
              <a:srgbClr val="111E36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64240" y="2286000"/>
            <a:ext cx="91440" cy="109728"/>
          </a:xfrm>
          <a:prstGeom prst="rect">
            <a:avLst/>
          </a:prstGeom>
          <a:solidFill>
            <a:srgbClr val="22D3EE">
              <a:alpha val="2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064240" y="2743200"/>
            <a:ext cx="91440" cy="109728"/>
          </a:xfrm>
          <a:prstGeom prst="rect">
            <a:avLst/>
          </a:prstGeom>
          <a:solidFill>
            <a:srgbClr val="22D3EE">
              <a:alpha val="2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64240" y="3200400"/>
            <a:ext cx="91440" cy="109728"/>
          </a:xfrm>
          <a:prstGeom prst="rect">
            <a:avLst/>
          </a:prstGeom>
          <a:solidFill>
            <a:srgbClr val="22D3EE">
              <a:alpha val="2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2926080"/>
            <a:ext cx="365760" cy="1645920"/>
          </a:xfrm>
          <a:prstGeom prst="rect">
            <a:avLst/>
          </a:prstGeom>
          <a:solidFill>
            <a:srgbClr val="111E36"/>
          </a:solidFill>
          <a:ln w="12700">
            <a:solidFill>
              <a:srgbClr val="111E36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652760" y="3200400"/>
            <a:ext cx="91440" cy="109728"/>
          </a:xfrm>
          <a:prstGeom prst="rect">
            <a:avLst/>
          </a:prstGeom>
          <a:solidFill>
            <a:srgbClr val="22D3EE">
              <a:alpha val="2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652760" y="3657600"/>
            <a:ext cx="91440" cy="109728"/>
          </a:xfrm>
          <a:prstGeom prst="rect">
            <a:avLst/>
          </a:prstGeom>
          <a:solidFill>
            <a:srgbClr val="22D3EE">
              <a:alpha val="2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652760" y="4114800"/>
            <a:ext cx="91440" cy="109728"/>
          </a:xfrm>
          <a:prstGeom prst="rect">
            <a:avLst/>
          </a:prstGeom>
          <a:solidFill>
            <a:srgbClr val="22D3EE">
              <a:alpha val="2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50024" y="4572000"/>
            <a:ext cx="4553712" cy="1728216"/>
          </a:xfrm>
          <a:prstGeom prst="rect">
            <a:avLst/>
          </a:prstGeom>
          <a:solidFill>
            <a:srgbClr val="0F182B"/>
          </a:solidFill>
          <a:ln w="12700">
            <a:solidFill>
              <a:srgbClr val="0F182B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50024" y="4572000"/>
            <a:ext cx="4553712" cy="36576"/>
          </a:xfrm>
          <a:prstGeom prst="rect">
            <a:avLst/>
          </a:prstGeom>
          <a:solidFill>
            <a:srgbClr val="D8CCAA"/>
          </a:solidFill>
          <a:ln w="12700">
            <a:solidFill>
              <a:srgbClr val="D8CCAA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62088" y="2377440"/>
            <a:ext cx="54864" cy="2194560"/>
          </a:xfrm>
          <a:prstGeom prst="rect">
            <a:avLst/>
          </a:prstGeom>
          <a:solidFill>
            <a:srgbClr val="3A4B6B"/>
          </a:solidFill>
          <a:ln w="12700">
            <a:solidFill>
              <a:srgbClr val="3A4B6B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89520" y="2377440"/>
            <a:ext cx="256032" cy="45720"/>
          </a:xfrm>
          <a:prstGeom prst="rect">
            <a:avLst/>
          </a:prstGeom>
          <a:solidFill>
            <a:srgbClr val="3A4B6B"/>
          </a:solidFill>
          <a:ln w="12700">
            <a:solidFill>
              <a:srgbClr val="3A4B6B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88352" y="2121408"/>
            <a:ext cx="914400" cy="585216"/>
          </a:xfrm>
          <a:prstGeom prst="ellipse">
            <a:avLst/>
          </a:prstGeom>
          <a:solidFill>
            <a:srgbClr val="FFE9A8">
              <a:alpha val="8000"/>
            </a:srgbClr>
          </a:solidFill>
          <a:ln w="12700">
            <a:solidFill>
              <a:srgbClr val="FFE9A8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25512" y="2209190"/>
            <a:ext cx="640080" cy="409651"/>
          </a:xfrm>
          <a:prstGeom prst="ellipse">
            <a:avLst/>
          </a:prstGeom>
          <a:solidFill>
            <a:srgbClr val="FFE9A8">
              <a:alpha val="14000"/>
            </a:srgbClr>
          </a:solidFill>
          <a:ln w="12700">
            <a:solidFill>
              <a:srgbClr val="FFE9A8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39812" y="2282342"/>
            <a:ext cx="411480" cy="263347"/>
          </a:xfrm>
          <a:prstGeom prst="ellipse">
            <a:avLst/>
          </a:prstGeom>
          <a:solidFill>
            <a:srgbClr val="FFE9A8">
              <a:alpha val="22000"/>
            </a:srgbClr>
          </a:solidFill>
          <a:ln w="12700">
            <a:solidFill>
              <a:srgbClr val="FFE9A8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99248" y="2395728"/>
            <a:ext cx="292608" cy="82296"/>
          </a:xfrm>
          <a:prstGeom prst="ellipse">
            <a:avLst/>
          </a:prstGeom>
          <a:solidFill>
            <a:srgbClr val="FFE9A8"/>
          </a:solidFill>
          <a:ln w="12700">
            <a:solidFill>
              <a:srgbClr val="FFE9A8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34072" y="4773168"/>
            <a:ext cx="822960" cy="411480"/>
          </a:xfrm>
          <a:prstGeom prst="ellipse">
            <a:avLst/>
          </a:prstGeom>
          <a:solidFill>
            <a:srgbClr val="FFE9A8">
              <a:alpha val="7000"/>
            </a:srgbClr>
          </a:solidFill>
          <a:ln w="12700">
            <a:solidFill>
              <a:srgbClr val="FFE9A8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02168" y="2651760"/>
            <a:ext cx="54864" cy="1920240"/>
          </a:xfrm>
          <a:prstGeom prst="rect">
            <a:avLst/>
          </a:prstGeom>
          <a:solidFill>
            <a:srgbClr val="3A4B6B"/>
          </a:solidFill>
          <a:ln w="12700">
            <a:solidFill>
              <a:srgbClr val="3A4B6B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29600" y="2651760"/>
            <a:ext cx="192024" cy="45720"/>
          </a:xfrm>
          <a:prstGeom prst="rect">
            <a:avLst/>
          </a:prstGeom>
          <a:solidFill>
            <a:srgbClr val="3A4B6B"/>
          </a:solidFill>
          <a:ln w="12700">
            <a:solidFill>
              <a:srgbClr val="3A4B6B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01584" y="2483510"/>
            <a:ext cx="640080" cy="409651"/>
          </a:xfrm>
          <a:prstGeom prst="ellipse">
            <a:avLst/>
          </a:prstGeom>
          <a:solidFill>
            <a:srgbClr val="FFE9A8">
              <a:alpha val="8000"/>
            </a:srgbClr>
          </a:solidFill>
          <a:ln w="12700">
            <a:solidFill>
              <a:srgbClr val="FFE9A8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97596" y="2544958"/>
            <a:ext cx="448056" cy="286756"/>
          </a:xfrm>
          <a:prstGeom prst="ellipse">
            <a:avLst/>
          </a:prstGeom>
          <a:solidFill>
            <a:srgbClr val="FFE9A8">
              <a:alpha val="14000"/>
            </a:srgbClr>
          </a:solidFill>
          <a:ln w="12700">
            <a:solidFill>
              <a:srgbClr val="FFE9A8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77606" y="2596164"/>
            <a:ext cx="288036" cy="184343"/>
          </a:xfrm>
          <a:prstGeom prst="ellipse">
            <a:avLst/>
          </a:prstGeom>
          <a:solidFill>
            <a:srgbClr val="FFE9A8">
              <a:alpha val="22000"/>
            </a:srgbClr>
          </a:solidFill>
          <a:ln w="12700">
            <a:solidFill>
              <a:srgbClr val="FFE9A8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275320" y="2670048"/>
            <a:ext cx="292608" cy="82296"/>
          </a:xfrm>
          <a:prstGeom prst="ellipse">
            <a:avLst/>
          </a:prstGeom>
          <a:solidFill>
            <a:srgbClr val="FFE9A8"/>
          </a:solidFill>
          <a:ln w="12700">
            <a:solidFill>
              <a:srgbClr val="FFE9A8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33588" y="4773168"/>
            <a:ext cx="576072" cy="411480"/>
          </a:xfrm>
          <a:prstGeom prst="ellipse">
            <a:avLst/>
          </a:prstGeom>
          <a:solidFill>
            <a:srgbClr val="FFE9A8">
              <a:alpha val="7000"/>
            </a:srgbClr>
          </a:solidFill>
          <a:ln w="12700">
            <a:solidFill>
              <a:srgbClr val="FFE9A8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482328" y="1371600"/>
            <a:ext cx="54864" cy="3200400"/>
          </a:xfrm>
          <a:prstGeom prst="rect">
            <a:avLst/>
          </a:prstGeom>
          <a:solidFill>
            <a:srgbClr val="3A4B6B"/>
          </a:solidFill>
          <a:ln w="12700">
            <a:solidFill>
              <a:srgbClr val="3A4B6B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509760" y="1371600"/>
            <a:ext cx="512064" cy="45720"/>
          </a:xfrm>
          <a:prstGeom prst="rect">
            <a:avLst/>
          </a:prstGeom>
          <a:solidFill>
            <a:srgbClr val="3A4B6B"/>
          </a:solidFill>
          <a:ln w="12700">
            <a:solidFill>
              <a:srgbClr val="3A4B6B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467344" y="413309"/>
            <a:ext cx="3108960" cy="1989734"/>
          </a:xfrm>
          <a:prstGeom prst="ellipse">
            <a:avLst/>
          </a:prstGeom>
          <a:solidFill>
            <a:srgbClr val="FFE9A8">
              <a:alpha val="8000"/>
            </a:srgbClr>
          </a:solidFill>
          <a:ln w="12700">
            <a:solidFill>
              <a:srgbClr val="FFE9A8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933688" y="711769"/>
            <a:ext cx="2176272" cy="1392814"/>
          </a:xfrm>
          <a:prstGeom prst="ellipse">
            <a:avLst/>
          </a:prstGeom>
          <a:solidFill>
            <a:srgbClr val="FFE9A8">
              <a:alpha val="14000"/>
            </a:srgbClr>
          </a:solidFill>
          <a:ln w="12700">
            <a:solidFill>
              <a:srgbClr val="FFE9A8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322308" y="960486"/>
            <a:ext cx="1399032" cy="895380"/>
          </a:xfrm>
          <a:prstGeom prst="ellipse">
            <a:avLst/>
          </a:prstGeom>
          <a:solidFill>
            <a:srgbClr val="FFE9A8">
              <a:alpha val="22000"/>
            </a:srgbClr>
          </a:solidFill>
          <a:ln w="12700">
            <a:solidFill>
              <a:srgbClr val="FFE9A8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875520" y="1389888"/>
            <a:ext cx="292608" cy="82296"/>
          </a:xfrm>
          <a:prstGeom prst="ellipse">
            <a:avLst/>
          </a:prstGeom>
          <a:solidFill>
            <a:srgbClr val="FFE9A8"/>
          </a:solidFill>
          <a:ln w="12700">
            <a:solidFill>
              <a:srgbClr val="FFE9A8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622792" y="4773168"/>
            <a:ext cx="2798064" cy="411480"/>
          </a:xfrm>
          <a:prstGeom prst="ellipse">
            <a:avLst/>
          </a:prstGeom>
          <a:solidFill>
            <a:srgbClr val="FFE9A8">
              <a:alpha val="18000"/>
            </a:srgbClr>
          </a:solidFill>
          <a:ln w="12700">
            <a:solidFill>
              <a:srgbClr val="FFE9A8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177272" y="3886200"/>
            <a:ext cx="155448" cy="15544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140696" y="4069080"/>
            <a:ext cx="228600" cy="502920"/>
          </a:xfrm>
          <a:prstGeom prst="roundRect">
            <a:avLst>
              <a:gd name="adj" fmla="val 32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158984" y="4526280"/>
            <a:ext cx="82296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268712" y="4526280"/>
            <a:ext cx="82296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829800" y="4773168"/>
            <a:ext cx="868680" cy="292608"/>
          </a:xfrm>
          <a:prstGeom prst="ellipse">
            <a:avLst/>
          </a:prstGeom>
          <a:solidFill>
            <a:srgbClr val="22D3EE">
              <a:alpha val="0"/>
            </a:srgbClr>
          </a:solidFill>
          <a:ln w="15875">
            <a:solidFill>
              <a:srgbClr val="22D3EE"/>
            </a:solidFill>
            <a:prstDash val="dash"/>
          </a:ln>
        </p:spPr>
      </p:sp>
      <p:sp>
        <p:nvSpPr>
          <p:cNvPr id="61" name="Text 59"/>
          <p:cNvSpPr/>
          <p:nvPr/>
        </p:nvSpPr>
        <p:spPr>
          <a:xfrm>
            <a:off x="8686800" y="3200400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0A1220"/>
          </a:solidFill>
          <a:ln w="12700">
            <a:solidFill>
              <a:srgbClr val="22D3E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PIR: MOTION → 100%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7315200" y="2834640"/>
            <a:ext cx="1097280" cy="256032"/>
          </a:xfrm>
          <a:prstGeom prst="roundRect">
            <a:avLst>
              <a:gd name="adj" fmla="val 28571"/>
            </a:avLst>
          </a:prstGeom>
          <a:solidFill>
            <a:srgbClr val="0A1220"/>
          </a:solidFill>
          <a:ln w="12700">
            <a:solidFill>
              <a:srgbClr val="9AA9C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9C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IDLE · ~25%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9692640" y="598932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C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Concept illustration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749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  ·  THE PROBLEM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Street Lights Stay ON Even When the Street Is Empty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HACK THE HORIZON 2.0  |  HTH-SA-06  |  SMART ADAPTIVE STREET LIGHTING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98480" y="6473952"/>
            <a:ext cx="94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/ 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Conventional street lighting is typically controlled using fixed schedules or continuous illumination. During low-traffic periods, this can cause unnecessary energy consumption, while safety still requires rapid illumination when pedestrians or vehicles approach.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AF5E6"/>
          </a:solidFill>
          <a:ln w="9525">
            <a:solidFill>
              <a:srgbClr val="D8CC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938528"/>
            <a:ext cx="457200" cy="457200"/>
          </a:xfrm>
          <a:prstGeom prst="ellipse">
            <a:avLst/>
          </a:prstGeom>
          <a:solidFill>
            <a:srgbClr val="EADFC0"/>
          </a:solidFill>
          <a:ln w="12700">
            <a:solidFill>
              <a:srgbClr val="EADFC0">
                <a:alpha val="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2052828"/>
            <a:ext cx="228600" cy="2286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2588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 TRAFFIC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5603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Large portions of the night can have very low pedestrian and vehicle activity.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337560" y="178308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AF5E6"/>
          </a:solidFill>
          <a:ln w="9525">
            <a:solidFill>
              <a:srgbClr val="D8CC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20440" y="1938528"/>
            <a:ext cx="457200" cy="457200"/>
          </a:xfrm>
          <a:prstGeom prst="ellipse">
            <a:avLst/>
          </a:prstGeom>
          <a:solidFill>
            <a:srgbClr val="EADFC0"/>
          </a:solidFill>
          <a:ln w="12700">
            <a:solidFill>
              <a:srgbClr val="EADFC0">
                <a:alpha val="0"/>
              </a:srgbClr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740" y="2052828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11480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ENERGY WASTE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3520440" y="25603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Full-brightness lighting during idle periods consumes energy unnecessarily.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126480" y="178308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AF5E6"/>
          </a:solidFill>
          <a:ln w="9525">
            <a:solidFill>
              <a:srgbClr val="D8CCA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309360" y="1938528"/>
            <a:ext cx="457200" cy="457200"/>
          </a:xfrm>
          <a:prstGeom prst="ellipse">
            <a:avLst/>
          </a:prstGeom>
          <a:solidFill>
            <a:srgbClr val="EADFC0"/>
          </a:solidFill>
          <a:ln w="12700">
            <a:solidFill>
              <a:srgbClr val="EADFC0">
                <a:alpha val="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2052828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90372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SUDDEN MOVEMENT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6309360" y="25603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pedestrian or vehicle can enter the lighting zone unexpectedly.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8915400" y="178308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AF5E6"/>
          </a:solidFill>
          <a:ln w="9525">
            <a:solidFill>
              <a:srgbClr val="D8CCA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098280" y="1938528"/>
            <a:ext cx="457200" cy="457200"/>
          </a:xfrm>
          <a:prstGeom prst="ellipse">
            <a:avLst/>
          </a:prstGeom>
          <a:solidFill>
            <a:srgbClr val="EADFC0"/>
          </a:solidFill>
          <a:ln w="12700">
            <a:solidFill>
              <a:srgbClr val="EADFC0">
                <a:alpha val="0"/>
              </a:srgbClr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2580" y="2052828"/>
            <a:ext cx="228600" cy="2286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69264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SAFETY REQUIREMENT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098280" y="25603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Lighting must respond rapidly enough to provide full illumination.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48640" y="338328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FAF5E6"/>
          </a:solidFill>
          <a:ln w="9525">
            <a:solidFill>
              <a:srgbClr val="4B556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777240" y="34930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CONVENTIONAL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777240" y="39319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AF5E6"/>
          </a:solidFill>
          <a:ln w="12700">
            <a:solidFill>
              <a:srgbClr val="4B5563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Fixed Schedule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2267712" y="4343400"/>
            <a:ext cx="265176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31" name="Text 25"/>
          <p:cNvSpPr/>
          <p:nvPr/>
        </p:nvSpPr>
        <p:spPr>
          <a:xfrm>
            <a:off x="2560320" y="39319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AF5E6"/>
          </a:solidFill>
          <a:ln w="12700">
            <a:solidFill>
              <a:srgbClr val="4B5563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Fixed Brightness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4050792" y="4343400"/>
            <a:ext cx="265176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33" name="Text 27"/>
          <p:cNvSpPr/>
          <p:nvPr/>
        </p:nvSpPr>
        <p:spPr>
          <a:xfrm>
            <a:off x="4343400" y="39319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AF5E6"/>
          </a:solidFill>
          <a:ln w="12700">
            <a:solidFill>
              <a:srgbClr val="4B5563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Unnecessary Energy Use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6199632" y="338328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FAF5E6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6428232" y="34930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80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INTELLIGENT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6428232" y="39319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AF5E6"/>
          </a:solidFill>
          <a:ln w="12700">
            <a:solidFill>
              <a:srgbClr val="15803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Ambient + Motion Detection</a:t>
            </a:r>
            <a:endParaRPr lang="en-US" sz="1200" dirty="0"/>
          </a:p>
        </p:txBody>
      </p:sp>
      <p:sp>
        <p:nvSpPr>
          <p:cNvPr id="37" name="Shape 31"/>
          <p:cNvSpPr/>
          <p:nvPr/>
        </p:nvSpPr>
        <p:spPr>
          <a:xfrm>
            <a:off x="7918704" y="4343400"/>
            <a:ext cx="265176" cy="0"/>
          </a:xfrm>
          <a:prstGeom prst="line">
            <a:avLst/>
          </a:prstGeom>
          <a:noFill/>
          <a:ln w="1905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38" name="Text 32"/>
          <p:cNvSpPr/>
          <p:nvPr/>
        </p:nvSpPr>
        <p:spPr>
          <a:xfrm>
            <a:off x="8211312" y="39319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AF5E6"/>
          </a:solidFill>
          <a:ln w="12700">
            <a:solidFill>
              <a:srgbClr val="15803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Adaptive Brightness</a:t>
            </a:r>
            <a:endParaRPr lang="en-US" sz="1200" dirty="0"/>
          </a:p>
        </p:txBody>
      </p:sp>
      <p:sp>
        <p:nvSpPr>
          <p:cNvPr id="39" name="Shape 33"/>
          <p:cNvSpPr/>
          <p:nvPr/>
        </p:nvSpPr>
        <p:spPr>
          <a:xfrm>
            <a:off x="9701784" y="4343400"/>
            <a:ext cx="265176" cy="0"/>
          </a:xfrm>
          <a:prstGeom prst="line">
            <a:avLst/>
          </a:prstGeom>
          <a:noFill/>
          <a:ln w="1905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40" name="Text 34"/>
          <p:cNvSpPr/>
          <p:nvPr/>
        </p:nvSpPr>
        <p:spPr>
          <a:xfrm>
            <a:off x="9994392" y="39319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AF5E6"/>
          </a:solidFill>
          <a:ln w="12700">
            <a:solidFill>
              <a:srgbClr val="15803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Energy Saving + Safety</a:t>
            </a:r>
            <a:endParaRPr lang="en-US" sz="1200" dirty="0"/>
          </a:p>
        </p:txBody>
      </p:sp>
      <p:sp>
        <p:nvSpPr>
          <p:cNvPr id="41" name="Text 35"/>
          <p:cNvSpPr txBox="1"/>
          <p:nvPr/>
        </p:nvSpPr>
        <p:spPr>
          <a:xfrm>
            <a:off x="548640" y="5212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can we reduce energy consumption without compromising safety?</a:t>
            </a:r>
            <a:endParaRPr lang="en-US" sz="1800" dirty="0"/>
          </a:p>
        </p:txBody>
      </p:sp>
      <p:sp>
        <p:nvSpPr>
          <p:cNvPr id="42" name="Text 36"/>
          <p:cNvSpPr txBox="1"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580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goal is not to turn street lights OFF — it is to make them SMART.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749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  ·  OUR SOLUTION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Distributed 3-ESP32 Intelligent Street-Lighting System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HACK THE HORIZON 2.0  |  HTH-SA-06  |  SMART ADAPTIVE STREET LIGHTING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98480" y="6473952"/>
            <a:ext cx="94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/ 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Our system continuously senses the environment, detects movement, adapts lamp brightness, monitors energy usage and reports real-time status through a central monitoring node.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383280" cy="3017520"/>
          </a:xfrm>
          <a:prstGeom prst="roundRect">
            <a:avLst>
              <a:gd name="adj" fmla="val 3636"/>
            </a:avLst>
          </a:prstGeom>
          <a:solidFill>
            <a:srgbClr val="FAF5E6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EADFC0"/>
          </a:solidFill>
          <a:ln w="12700">
            <a:solidFill>
              <a:srgbClr val="EADFC0">
                <a:alpha val="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488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63040" y="20299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ENERGY NODE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463040" y="23408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80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 ESP32 #1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288036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Piezo micro-energy harvesting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Battery monitoring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Voltage + current sensing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Power management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Wireless energy-status reporting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240280" y="4846320"/>
            <a:ext cx="0" cy="32004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89120" y="1828800"/>
            <a:ext cx="3383280" cy="3017520"/>
          </a:xfrm>
          <a:prstGeom prst="roundRect">
            <a:avLst>
              <a:gd name="adj" fmla="val 3636"/>
            </a:avLst>
          </a:prstGeom>
          <a:solidFill>
            <a:srgbClr val="FAF5E6"/>
          </a:solidFill>
          <a:ln w="9525">
            <a:solidFill>
              <a:srgbClr val="A1620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17720" y="2011680"/>
            <a:ext cx="548640" cy="548640"/>
          </a:xfrm>
          <a:prstGeom prst="ellipse">
            <a:avLst/>
          </a:prstGeom>
          <a:solidFill>
            <a:srgbClr val="EADFC0"/>
          </a:solidFill>
          <a:ln w="12700">
            <a:solidFill>
              <a:srgbClr val="EADFC0">
                <a:alpha val="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4884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303520" y="20299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LIGHTING NODE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5303520" y="23408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1620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 ESP32 #2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4663440" y="288036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LDR ambient-light sensing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PIR motion detection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Adaptive LED brightness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Safety response measurement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Wireless lighting-status reporting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080760" y="4846320"/>
            <a:ext cx="0" cy="32004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229600" y="1828800"/>
            <a:ext cx="3383280" cy="3017520"/>
          </a:xfrm>
          <a:prstGeom prst="roundRect">
            <a:avLst>
              <a:gd name="adj" fmla="val 3636"/>
            </a:avLst>
          </a:prstGeom>
          <a:solidFill>
            <a:srgbClr val="FAF5E6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458200" y="2011680"/>
            <a:ext cx="548640" cy="548640"/>
          </a:xfrm>
          <a:prstGeom prst="ellipse">
            <a:avLst/>
          </a:prstGeom>
          <a:solidFill>
            <a:srgbClr val="EADFC0"/>
          </a:solidFill>
          <a:ln w="12700">
            <a:solidFill>
              <a:srgbClr val="EADFC0">
                <a:alpha val="0"/>
              </a:srgbClr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148840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9144000" y="20299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CONTROL NODE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9144000" y="23408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D28D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 ESP32</a:t>
            </a:r>
            <a:endParaRPr lang="en-US" sz="1250" dirty="0"/>
          </a:p>
        </p:txBody>
      </p:sp>
      <p:sp>
        <p:nvSpPr>
          <p:cNvPr id="26" name="Text 21"/>
          <p:cNvSpPr txBox="1"/>
          <p:nvPr/>
        </p:nvSpPr>
        <p:spPr>
          <a:xfrm>
            <a:off x="8503920" y="288036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TFT monitoring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Buttons / manual override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Buzzer alerts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Central data collection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status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9921240" y="4846320"/>
            <a:ext cx="0" cy="32004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2240280" y="5166360"/>
            <a:ext cx="7680960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892040" y="5029200"/>
            <a:ext cx="2377440" cy="292608"/>
          </a:xfrm>
          <a:prstGeom prst="roundRect">
            <a:avLst>
              <a:gd name="adj" fmla="val 25000"/>
            </a:avLst>
          </a:prstGeom>
          <a:solidFill>
            <a:srgbClr val="FAF5E6"/>
          </a:solidFill>
          <a:ln w="12700">
            <a:solidFill>
              <a:srgbClr val="1D4ED8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Wi-Fi NETWORK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548640" y="571500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AF5E6"/>
          </a:solidFill>
          <a:ln w="12700">
            <a:solidFill>
              <a:srgbClr val="0E749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SENSE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2404872" y="5943600"/>
            <a:ext cx="402336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32" name="Text 27"/>
          <p:cNvSpPr/>
          <p:nvPr/>
        </p:nvSpPr>
        <p:spPr>
          <a:xfrm>
            <a:off x="2834640" y="571500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AF5E6"/>
          </a:solidFill>
          <a:ln w="12700">
            <a:solidFill>
              <a:srgbClr val="0E749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DECIDE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4690872" y="5943600"/>
            <a:ext cx="402336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34" name="Text 29"/>
          <p:cNvSpPr/>
          <p:nvPr/>
        </p:nvSpPr>
        <p:spPr>
          <a:xfrm>
            <a:off x="5120640" y="571500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AF5E6"/>
          </a:solidFill>
          <a:ln w="12700">
            <a:solidFill>
              <a:srgbClr val="0E749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RESPOND</a:t>
            </a:r>
            <a:endParaRPr lang="en-US" sz="1400" dirty="0"/>
          </a:p>
        </p:txBody>
      </p:sp>
      <p:sp>
        <p:nvSpPr>
          <p:cNvPr id="35" name="Shape 30"/>
          <p:cNvSpPr/>
          <p:nvPr/>
        </p:nvSpPr>
        <p:spPr>
          <a:xfrm>
            <a:off x="6976872" y="5943600"/>
            <a:ext cx="402336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36" name="Text 31"/>
          <p:cNvSpPr/>
          <p:nvPr/>
        </p:nvSpPr>
        <p:spPr>
          <a:xfrm>
            <a:off x="7406640" y="571500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AF5E6"/>
          </a:solidFill>
          <a:ln w="12700">
            <a:solidFill>
              <a:srgbClr val="0E749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MEASURE</a:t>
            </a:r>
            <a:endParaRPr lang="en-US" sz="1400" dirty="0"/>
          </a:p>
        </p:txBody>
      </p:sp>
      <p:sp>
        <p:nvSpPr>
          <p:cNvPr id="37" name="Shape 32"/>
          <p:cNvSpPr/>
          <p:nvPr/>
        </p:nvSpPr>
        <p:spPr>
          <a:xfrm>
            <a:off x="9262872" y="5943600"/>
            <a:ext cx="402336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38" name="Text 33"/>
          <p:cNvSpPr/>
          <p:nvPr/>
        </p:nvSpPr>
        <p:spPr>
          <a:xfrm>
            <a:off x="9692640" y="571500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AF5E6"/>
          </a:solidFill>
          <a:ln w="12700">
            <a:solidFill>
              <a:srgbClr val="0E749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OPTIMIZE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749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  ·  SYSTEM ARCHITECTURE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 Specialised Nodes. One Network. One Control Centre.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HACK THE HORIZON 2.0  |  HTH-SA-06  |  SMART ADAPTIVE STREET LIGHTING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98480" y="6473952"/>
            <a:ext cx="94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331720" y="1645920"/>
            <a:ext cx="7498080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1645920"/>
            <a:ext cx="0" cy="45720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headEnd type="triangle"/>
          </a:ln>
        </p:spPr>
      </p:sp>
      <p:sp>
        <p:nvSpPr>
          <p:cNvPr id="8" name="Shape 6"/>
          <p:cNvSpPr/>
          <p:nvPr/>
        </p:nvSpPr>
        <p:spPr>
          <a:xfrm>
            <a:off x="6080760" y="1645920"/>
            <a:ext cx="0" cy="45720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headEnd type="triangle"/>
          </a:ln>
        </p:spPr>
      </p:sp>
      <p:sp>
        <p:nvSpPr>
          <p:cNvPr id="9" name="Shape 7"/>
          <p:cNvSpPr/>
          <p:nvPr/>
        </p:nvSpPr>
        <p:spPr>
          <a:xfrm>
            <a:off x="9829800" y="1645920"/>
            <a:ext cx="0" cy="45720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892040" y="1481328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FAF5E6"/>
          </a:solidFill>
          <a:ln w="12700">
            <a:solidFill>
              <a:srgbClr val="1D4ED8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Wi-Fi NETWORK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103120"/>
            <a:ext cx="3566160" cy="777240"/>
          </a:xfrm>
          <a:prstGeom prst="roundRect">
            <a:avLst>
              <a:gd name="adj" fmla="val 11765"/>
            </a:avLst>
          </a:prstGeom>
          <a:solidFill>
            <a:srgbClr val="FAF5E6"/>
          </a:solidFill>
          <a:ln w="19050">
            <a:solidFill>
              <a:srgbClr val="4B556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1945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 ESP32 #1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4414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ENERGY NODE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F3EAD0"/>
          </a:solidFill>
          <a:ln w="9525">
            <a:solidFill>
              <a:srgbClr val="D8CC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15468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FAF5E6"/>
          </a:solidFill>
          <a:ln w="12700">
            <a:solidFill>
              <a:srgbClr val="15803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Piezo Disk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23160" y="315468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FAF5E6"/>
          </a:solidFill>
          <a:ln w="12700">
            <a:solidFill>
              <a:srgbClr val="15803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Capacitor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65760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FAF5E6"/>
          </a:solidFill>
          <a:ln w="12700">
            <a:solidFill>
              <a:srgbClr val="15803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Charging Module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23160" y="365760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FAF5E6"/>
          </a:solidFill>
          <a:ln w="12700">
            <a:solidFill>
              <a:srgbClr val="15803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Li-ion Battery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16052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FAF5E6"/>
          </a:solidFill>
          <a:ln w="12700">
            <a:solidFill>
              <a:srgbClr val="0E749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Current Sensor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23160" y="416052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FAF5E6"/>
          </a:solidFill>
          <a:ln w="12700">
            <a:solidFill>
              <a:srgbClr val="0E749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Voltage Sensor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66344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FAF5E6"/>
          </a:solidFill>
          <a:ln w="12700">
            <a:solidFill>
              <a:srgbClr val="15803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DC-DC Power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97680" y="2103120"/>
            <a:ext cx="3566160" cy="777240"/>
          </a:xfrm>
          <a:prstGeom prst="roundRect">
            <a:avLst>
              <a:gd name="adj" fmla="val 11765"/>
            </a:avLst>
          </a:prstGeom>
          <a:solidFill>
            <a:srgbClr val="FAF5E6"/>
          </a:solidFill>
          <a:ln w="19050">
            <a:solidFill>
              <a:srgbClr val="4B556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26280" y="21945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 ESP32 #2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26280" y="24414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LIGHTING NODE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297680" y="301752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F3EAD0"/>
          </a:solidFill>
          <a:ln w="9525">
            <a:solidFill>
              <a:srgbClr val="D8CC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0" y="315468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FAF5E6"/>
          </a:solidFill>
          <a:ln w="12700">
            <a:solidFill>
              <a:srgbClr val="0E749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PIR Sensor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72200" y="315468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FAF5E6"/>
          </a:solidFill>
          <a:ln w="12700">
            <a:solidFill>
              <a:srgbClr val="0E749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LDR Sensor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389120" y="365760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FAF5E6"/>
          </a:solidFill>
          <a:ln w="12700">
            <a:solidFill>
              <a:srgbClr val="A1620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LED Street Light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2103120"/>
            <a:ext cx="3566160" cy="777240"/>
          </a:xfrm>
          <a:prstGeom prst="roundRect">
            <a:avLst>
              <a:gd name="adj" fmla="val 11765"/>
            </a:avLst>
          </a:prstGeom>
          <a:solidFill>
            <a:srgbClr val="FAF5E6"/>
          </a:solidFill>
          <a:ln w="19050">
            <a:solidFill>
              <a:srgbClr val="4B556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75320" y="21945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 ESP32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275320" y="24414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CONTROL CENTER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8046720" y="301752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F3EAD0"/>
          </a:solidFill>
          <a:ln w="9525">
            <a:solidFill>
              <a:srgbClr val="D8CC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38160" y="315468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FAF5E6"/>
          </a:solidFill>
          <a:ln w="12700">
            <a:solidFill>
              <a:srgbClr val="6D28D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TFT Display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921240" y="315468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FAF5E6"/>
          </a:solidFill>
          <a:ln w="12700">
            <a:solidFill>
              <a:srgbClr val="6D28D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Buttons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138160" y="365760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FAF5E6"/>
          </a:solidFill>
          <a:ln w="12700">
            <a:solidFill>
              <a:srgbClr val="6D28D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Buzzer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5486400"/>
            <a:ext cx="128016" cy="128016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49808" y="544068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SENSING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751076" y="5486400"/>
            <a:ext cx="128016" cy="128016"/>
          </a:xfrm>
          <a:prstGeom prst="ellipse">
            <a:avLst/>
          </a:prstGeom>
          <a:solidFill>
            <a:srgbClr val="4B5563"/>
          </a:solidFill>
          <a:ln w="12700">
            <a:solidFill>
              <a:srgbClr val="4B5563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952244" y="544068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PROCESSING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214116" y="5486400"/>
            <a:ext cx="128016" cy="12801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415284" y="544068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COMMUNICATION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937760" y="5486400"/>
            <a:ext cx="128016" cy="128016"/>
          </a:xfrm>
          <a:prstGeom prst="ellipse">
            <a:avLst/>
          </a:prstGeom>
          <a:solidFill>
            <a:srgbClr val="A16207"/>
          </a:solidFill>
          <a:ln w="12700">
            <a:solidFill>
              <a:srgbClr val="A16207">
                <a:alpha val="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138928" y="544068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LIGHTING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27064" y="5486400"/>
            <a:ext cx="128016" cy="12801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>
                <a:alpha val="0"/>
              </a:srgbClr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428232" y="544068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ENERGY MONITORING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298180" y="5486400"/>
            <a:ext cx="128016" cy="12801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499348" y="544068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 INTERFACE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548640" y="5806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749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Energy Node → Wi-Fi → Main ESP32   ·   Lighting Node → Wi-Fi → Main ESP32   ·   Main ESP32 → Monitoring / Control / Alerts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548640" y="6099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node performs a specialised function while the central controller provides unified monitoring and control.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749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  ·  HOW THE INTELLIGENT LIGHTING WORKS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Adaptive Brightness Based on Ambient Light + Movement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HACK THE HORIZON 2.0  |  HTH-SA-06  |  SMART ADAPTIVE STREET LIGHTING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98480" y="6473952"/>
            <a:ext cx="94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514600" cy="1463040"/>
          </a:xfrm>
          <a:prstGeom prst="roundRect">
            <a:avLst>
              <a:gd name="adj" fmla="val 7500"/>
            </a:avLst>
          </a:prstGeom>
          <a:solidFill>
            <a:srgbClr val="FAF5E6"/>
          </a:solidFill>
          <a:ln w="15875">
            <a:solidFill>
              <a:srgbClr val="4B556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8288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48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OFF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743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ambient light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90672" y="2423160"/>
            <a:ext cx="265176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383280" y="1691640"/>
            <a:ext cx="2514600" cy="1463040"/>
          </a:xfrm>
          <a:prstGeom prst="roundRect">
            <a:avLst>
              <a:gd name="adj" fmla="val 7500"/>
            </a:avLst>
          </a:prstGeom>
          <a:solidFill>
            <a:srgbClr val="FAF5E6"/>
          </a:solidFill>
          <a:ln w="15875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66160" y="18288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E749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NIGHT + NO MOTION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148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20–30%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743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Low-power standby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25312" y="2423160"/>
            <a:ext cx="265176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17920" y="1691640"/>
            <a:ext cx="2514600" cy="1463040"/>
          </a:xfrm>
          <a:prstGeom prst="roundRect">
            <a:avLst>
              <a:gd name="adj" fmla="val 7500"/>
            </a:avLst>
          </a:prstGeom>
          <a:solidFill>
            <a:srgbClr val="FAF5E6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18288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B4530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NIGHT + MOTION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148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 100%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743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Rapid ramp-up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759952" y="2423160"/>
            <a:ext cx="265176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052560" y="1691640"/>
            <a:ext cx="2514600" cy="1463040"/>
          </a:xfrm>
          <a:prstGeom prst="roundRect">
            <a:avLst>
              <a:gd name="adj" fmla="val 7500"/>
            </a:avLst>
          </a:prstGeom>
          <a:solidFill>
            <a:srgbClr val="FAF5E6"/>
          </a:solidFill>
          <a:ln w="15875">
            <a:solidFill>
              <a:srgbClr val="0E749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35440" y="18288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E749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POST-MOTION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9235440" y="2148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 20–30%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9235440" y="2743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Controlled dimming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429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749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DECISION LOGIC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3749040"/>
            <a:ext cx="2103120" cy="1234440"/>
          </a:xfrm>
          <a:prstGeom prst="roundRect">
            <a:avLst>
              <a:gd name="adj" fmla="val 7407"/>
            </a:avLst>
          </a:prstGeom>
          <a:solidFill>
            <a:srgbClr val="FAF5E6"/>
          </a:solidFill>
          <a:ln w="9525">
            <a:solidFill>
              <a:srgbClr val="D8CC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3858768"/>
            <a:ext cx="292608" cy="29260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3858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78992" y="385876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 LDR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42976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Ambient light sufficient?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770632" y="3749040"/>
            <a:ext cx="2103120" cy="1234440"/>
          </a:xfrm>
          <a:prstGeom prst="roundRect">
            <a:avLst>
              <a:gd name="adj" fmla="val 7407"/>
            </a:avLst>
          </a:prstGeom>
          <a:solidFill>
            <a:srgbClr val="FAF5E6"/>
          </a:solidFill>
          <a:ln w="9525">
            <a:solidFill>
              <a:srgbClr val="D8CCA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07792" y="3858768"/>
            <a:ext cx="292608" cy="29260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907792" y="3858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3300984" y="385876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Daytime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2907792" y="42976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Lamp OFF / minimal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992624" y="3749040"/>
            <a:ext cx="2103120" cy="1234440"/>
          </a:xfrm>
          <a:prstGeom prst="roundRect">
            <a:avLst>
              <a:gd name="adj" fmla="val 7407"/>
            </a:avLst>
          </a:prstGeom>
          <a:solidFill>
            <a:srgbClr val="FAF5E6"/>
          </a:solidFill>
          <a:ln w="9525">
            <a:solidFill>
              <a:srgbClr val="D8CCA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29784" y="3858768"/>
            <a:ext cx="292608" cy="29260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129784" y="3858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522976" y="385876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Night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129784" y="42976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 standby brightness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7214616" y="3749040"/>
            <a:ext cx="2103120" cy="1234440"/>
          </a:xfrm>
          <a:prstGeom prst="roundRect">
            <a:avLst>
              <a:gd name="adj" fmla="val 7407"/>
            </a:avLst>
          </a:prstGeom>
          <a:solidFill>
            <a:srgbClr val="FAF5E6"/>
          </a:solidFill>
          <a:ln w="9525">
            <a:solidFill>
              <a:srgbClr val="D8CCA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51776" y="3858768"/>
            <a:ext cx="292608" cy="29260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351776" y="3858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7744968" y="385876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 PIR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7351776" y="42976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→ stay low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Yes → ramp to full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9436608" y="3749040"/>
            <a:ext cx="2103120" cy="1234440"/>
          </a:xfrm>
          <a:prstGeom prst="roundRect">
            <a:avLst>
              <a:gd name="adj" fmla="val 7407"/>
            </a:avLst>
          </a:prstGeom>
          <a:solidFill>
            <a:srgbClr val="FAF5E6"/>
          </a:solidFill>
          <a:ln w="9525">
            <a:solidFill>
              <a:srgbClr val="D8CCA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573768" y="3858768"/>
            <a:ext cx="292608" cy="29260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573768" y="3858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9966960" y="385876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Timeout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9573768" y="42976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motion → gradual return to standby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548640" y="5212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749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CONTROL LOOP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548640" y="5486400"/>
            <a:ext cx="1737360" cy="411480"/>
          </a:xfrm>
          <a:prstGeom prst="roundRect">
            <a:avLst>
              <a:gd name="adj" fmla="val 17778"/>
            </a:avLst>
          </a:prstGeom>
          <a:solidFill>
            <a:srgbClr val="FAF5E6"/>
          </a:solidFill>
          <a:ln w="12700">
            <a:solidFill>
              <a:srgbClr val="0E749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LDR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2313432" y="5687568"/>
            <a:ext cx="429768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54" name="Text 52"/>
          <p:cNvSpPr/>
          <p:nvPr/>
        </p:nvSpPr>
        <p:spPr>
          <a:xfrm>
            <a:off x="2770632" y="5486400"/>
            <a:ext cx="1737360" cy="411480"/>
          </a:xfrm>
          <a:prstGeom prst="roundRect">
            <a:avLst>
              <a:gd name="adj" fmla="val 17778"/>
            </a:avLst>
          </a:prstGeom>
          <a:solidFill>
            <a:srgbClr val="FAF5E6"/>
          </a:solidFill>
          <a:ln w="12700">
            <a:solidFill>
              <a:srgbClr val="0E749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PIR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4535424" y="5687568"/>
            <a:ext cx="429768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4992624" y="5486400"/>
            <a:ext cx="1737360" cy="411480"/>
          </a:xfrm>
          <a:prstGeom prst="roundRect">
            <a:avLst>
              <a:gd name="adj" fmla="val 17778"/>
            </a:avLst>
          </a:prstGeom>
          <a:solidFill>
            <a:srgbClr val="FAF5E6"/>
          </a:solidFill>
          <a:ln w="12700">
            <a:solidFill>
              <a:srgbClr val="0E749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ESP32 Decision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6757416" y="5687568"/>
            <a:ext cx="429768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58" name="Text 56"/>
          <p:cNvSpPr/>
          <p:nvPr/>
        </p:nvSpPr>
        <p:spPr>
          <a:xfrm>
            <a:off x="7214616" y="5486400"/>
            <a:ext cx="1737360" cy="411480"/>
          </a:xfrm>
          <a:prstGeom prst="roundRect">
            <a:avLst>
              <a:gd name="adj" fmla="val 17778"/>
            </a:avLst>
          </a:prstGeom>
          <a:solidFill>
            <a:srgbClr val="FAF5E6"/>
          </a:solidFill>
          <a:ln w="12700">
            <a:solidFill>
              <a:srgbClr val="0E749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PWM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8979408" y="5687568"/>
            <a:ext cx="429768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60" name="Text 58"/>
          <p:cNvSpPr/>
          <p:nvPr/>
        </p:nvSpPr>
        <p:spPr>
          <a:xfrm>
            <a:off x="9436608" y="5486400"/>
            <a:ext cx="1737360" cy="411480"/>
          </a:xfrm>
          <a:prstGeom prst="roundRect">
            <a:avLst>
              <a:gd name="adj" fmla="val 17778"/>
            </a:avLst>
          </a:prstGeom>
          <a:solidFill>
            <a:srgbClr val="FAF5E6"/>
          </a:solidFill>
          <a:ln w="12700">
            <a:solidFill>
              <a:srgbClr val="0E749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LED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548640" y="605332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4530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20–30% are example control values, tunable during testing — not measured results.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749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  ·  ENERGY HARVESTING &amp; POWER MANAGEMENT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Monitoring Every Watt Through the Energy Node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HACK THE HORIZON 2.0  |  HTH-SA-06  |  SMART ADAPTIVE STREET LIGHTING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98480" y="6473952"/>
            <a:ext cx="94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 /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FAF5E6"/>
          </a:solidFill>
          <a:ln w="12700">
            <a:solidFill>
              <a:srgbClr val="15803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Piezo Disk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Supplementary micro-energy harvesting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938528" y="1874520"/>
            <a:ext cx="210312" cy="0"/>
          </a:xfrm>
          <a:prstGeom prst="line">
            <a:avLst/>
          </a:prstGeom>
          <a:noFill/>
          <a:ln w="1905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167128" y="155448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FAF5E6"/>
          </a:solidFill>
          <a:ln w="12700">
            <a:solidFill>
              <a:srgbClr val="15803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Rectify / Condition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167128" y="2286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Electrical pulses → usable DC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57016" y="1874520"/>
            <a:ext cx="210312" cy="0"/>
          </a:xfrm>
          <a:prstGeom prst="line">
            <a:avLst/>
          </a:prstGeom>
          <a:noFill/>
          <a:ln w="1905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785616" y="155448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FAF5E6"/>
          </a:solidFill>
          <a:ln w="12700">
            <a:solidFill>
              <a:srgbClr val="15803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Capacitor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785616" y="2286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Filtering / energy stabilization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175504" y="1874520"/>
            <a:ext cx="210312" cy="0"/>
          </a:xfrm>
          <a:prstGeom prst="line">
            <a:avLst/>
          </a:prstGeom>
          <a:noFill/>
          <a:ln w="1905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404104" y="155448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FAF5E6"/>
          </a:solidFill>
          <a:ln w="12700">
            <a:solidFill>
              <a:srgbClr val="15803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Charging Module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04104" y="2286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Battery charging management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793992" y="1874520"/>
            <a:ext cx="210312" cy="0"/>
          </a:xfrm>
          <a:prstGeom prst="line">
            <a:avLst/>
          </a:prstGeom>
          <a:noFill/>
          <a:ln w="1905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022592" y="155448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FAF5E6"/>
          </a:solidFill>
          <a:ln w="12700">
            <a:solidFill>
              <a:srgbClr val="15803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Li-ion Battery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022592" y="2286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Energy storage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412480" y="1874520"/>
            <a:ext cx="210312" cy="0"/>
          </a:xfrm>
          <a:prstGeom prst="line">
            <a:avLst/>
          </a:prstGeom>
          <a:noFill/>
          <a:ln w="1905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8641080" y="155448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FAF5E6"/>
          </a:solidFill>
          <a:ln w="12700">
            <a:solidFill>
              <a:srgbClr val="B4530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Fuse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641080" y="2286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Electrical protection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030968" y="1874520"/>
            <a:ext cx="210312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0259568" y="155448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FAF5E6"/>
          </a:solidFill>
          <a:ln w="12700">
            <a:solidFill>
              <a:srgbClr val="0E749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DC-DC Rails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259568" y="2286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Boost / buck: 3.3 V · 5 V · 12 V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10896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FAF5E6"/>
          </a:solidFill>
          <a:ln w="9525">
            <a:solidFill>
              <a:srgbClr val="D8CCA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32186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749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MEASURE → CALCULATE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77240" y="3611880"/>
            <a:ext cx="2331720" cy="411480"/>
          </a:xfrm>
          <a:prstGeom prst="roundRect">
            <a:avLst>
              <a:gd name="adj" fmla="val 17778"/>
            </a:avLst>
          </a:prstGeom>
          <a:solidFill>
            <a:srgbClr val="FAF5E6"/>
          </a:solidFill>
          <a:ln w="12700">
            <a:solidFill>
              <a:srgbClr val="0E749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Voltage Sensor → V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291840" y="3611880"/>
            <a:ext cx="2423160" cy="411480"/>
          </a:xfrm>
          <a:prstGeom prst="roundRect">
            <a:avLst>
              <a:gd name="adj" fmla="val 17778"/>
            </a:avLst>
          </a:prstGeom>
          <a:solidFill>
            <a:srgbClr val="FAF5E6"/>
          </a:solidFill>
          <a:ln w="12700">
            <a:solidFill>
              <a:srgbClr val="0E749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Current Sensor → I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42062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580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 = V × I</a:t>
            </a:r>
            <a:endParaRPr lang="en-US" sz="3200" dirty="0"/>
          </a:p>
        </p:txBody>
      </p:sp>
      <p:sp>
        <p:nvSpPr>
          <p:cNvPr id="31" name="Text 29"/>
          <p:cNvSpPr txBox="1"/>
          <p:nvPr/>
        </p:nvSpPr>
        <p:spPr>
          <a:xfrm>
            <a:off x="777240" y="47548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580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 = P × t</a:t>
            </a:r>
            <a:endParaRPr lang="en-US" sz="3200" dirty="0"/>
          </a:p>
        </p:txBody>
      </p:sp>
      <p:sp>
        <p:nvSpPr>
          <p:cNvPr id="32" name="Shape 30"/>
          <p:cNvSpPr/>
          <p:nvPr/>
        </p:nvSpPr>
        <p:spPr>
          <a:xfrm>
            <a:off x="6199632" y="3108960"/>
            <a:ext cx="5440680" cy="2331720"/>
          </a:xfrm>
          <a:prstGeom prst="roundRect">
            <a:avLst>
              <a:gd name="adj" fmla="val 3922"/>
            </a:avLst>
          </a:prstGeom>
          <a:solidFill>
            <a:srgbClr val="FAF5E6"/>
          </a:solidFill>
          <a:ln w="9525">
            <a:solidFill>
              <a:srgbClr val="D8CCA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28232" y="32186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749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MEASUREMENT CARD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326880" y="3200400"/>
            <a:ext cx="2103120" cy="256032"/>
          </a:xfrm>
          <a:prstGeom prst="roundRect">
            <a:avLst>
              <a:gd name="adj" fmla="val 28571"/>
            </a:avLst>
          </a:prstGeom>
          <a:solidFill>
            <a:srgbClr val="FAF5E6"/>
          </a:solidFill>
          <a:ln w="12700">
            <a:solidFill>
              <a:srgbClr val="B4530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4530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Measured during final test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6428232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Voltage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326880" y="3611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X.XX V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428232" y="39410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Current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9326880" y="39410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X.XX A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6428232" y="4270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Power (V × I)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9326880" y="42702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X.XX W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6428232" y="4599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Battery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9326880" y="45994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XX %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6428232" y="49286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Harvested energy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9326880" y="4928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X.XX mWh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548640" y="562356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FAF5E6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77240" y="5669280"/>
            <a:ext cx="10652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piezo subsystem is a supplementary energy source for the prototype. Its harvested contribution is measured and reported rather than assumed to power the complete street-light load. The current sensor measures current; power is calculated.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749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  ·  SAFETY + ENERGY SAVINGS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Things We Must Prove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HACK THE HORIZON 2.0  |  HTH-SA-06  |  SMART ADAPTIVE STREET LIGHTING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98480" y="6473952"/>
            <a:ext cx="94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440680" cy="4023360"/>
          </a:xfrm>
          <a:prstGeom prst="roundRect">
            <a:avLst>
              <a:gd name="adj" fmla="val 2273"/>
            </a:avLst>
          </a:prstGeom>
          <a:solidFill>
            <a:srgbClr val="FAF5E6"/>
          </a:solidFill>
          <a:ln w="9525">
            <a:solidFill>
              <a:srgbClr val="D8CCA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 ·  SAFETY RESPONSE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877824" cy="777240"/>
          </a:xfrm>
          <a:prstGeom prst="roundRect">
            <a:avLst>
              <a:gd name="adj" fmla="val 9412"/>
            </a:avLst>
          </a:prstGeom>
          <a:solidFill>
            <a:srgbClr val="FAF5E6"/>
          </a:solidFill>
          <a:ln w="12700">
            <a:solidFill>
              <a:srgbClr val="0E749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Motion Detected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618488" y="2532888"/>
            <a:ext cx="164592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1792224" y="2148840"/>
            <a:ext cx="877824" cy="777240"/>
          </a:xfrm>
          <a:prstGeom prst="roundRect">
            <a:avLst>
              <a:gd name="adj" fmla="val 9412"/>
            </a:avLst>
          </a:prstGeom>
          <a:solidFill>
            <a:srgbClr val="FAF5E6"/>
          </a:solidFill>
          <a:ln w="12700">
            <a:solidFill>
              <a:srgbClr val="0E749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ESP32 Processing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79192" y="2532888"/>
            <a:ext cx="164592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852928" y="2148840"/>
            <a:ext cx="877824" cy="777240"/>
          </a:xfrm>
          <a:prstGeom prst="roundRect">
            <a:avLst>
              <a:gd name="adj" fmla="val 9412"/>
            </a:avLst>
          </a:prstGeom>
          <a:solidFill>
            <a:srgbClr val="FAF5E6"/>
          </a:solidFill>
          <a:ln w="12700">
            <a:solidFill>
              <a:srgbClr val="0E749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Brightness Command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739896" y="2532888"/>
            <a:ext cx="164592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913632" y="2148840"/>
            <a:ext cx="877824" cy="777240"/>
          </a:xfrm>
          <a:prstGeom prst="roundRect">
            <a:avLst>
              <a:gd name="adj" fmla="val 9412"/>
            </a:avLst>
          </a:prstGeom>
          <a:solidFill>
            <a:srgbClr val="FAF5E6"/>
          </a:solidFill>
          <a:ln w="12700">
            <a:solidFill>
              <a:srgbClr val="0E749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LED Ramp-Up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00600" y="2532888"/>
            <a:ext cx="164592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4974336" y="2148840"/>
            <a:ext cx="877824" cy="777240"/>
          </a:xfrm>
          <a:prstGeom prst="roundRect">
            <a:avLst>
              <a:gd name="adj" fmla="val 9412"/>
            </a:avLst>
          </a:prstGeom>
          <a:solidFill>
            <a:srgbClr val="FAF5E6"/>
          </a:solidFill>
          <a:ln w="12700">
            <a:solidFill>
              <a:srgbClr val="B4530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100% Brightness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108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E749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T_response = T_full_brightness − T_motion_detected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7240" y="3611880"/>
            <a:ext cx="4983480" cy="384048"/>
          </a:xfrm>
          <a:prstGeom prst="roundRect">
            <a:avLst>
              <a:gd name="adj" fmla="val 14286"/>
            </a:avLst>
          </a:prstGeom>
          <a:solidFill>
            <a:srgbClr val="F3EAD0"/>
          </a:solidFill>
          <a:ln w="9525">
            <a:solidFill>
              <a:srgbClr val="D8CCA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0120" y="36118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Measured response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566160" y="36118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XX ms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77240" y="4069080"/>
            <a:ext cx="4983480" cy="384048"/>
          </a:xfrm>
          <a:prstGeom prst="roundRect">
            <a:avLst>
              <a:gd name="adj" fmla="val 14286"/>
            </a:avLst>
          </a:prstGeom>
          <a:solidFill>
            <a:srgbClr val="F3EAD0"/>
          </a:solidFill>
          <a:ln w="9525">
            <a:solidFill>
              <a:srgbClr val="D8CCA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0120" y="40690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Defined safety bound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566160" y="40690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XX ms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77240" y="4526280"/>
            <a:ext cx="4983480" cy="384048"/>
          </a:xfrm>
          <a:prstGeom prst="roundRect">
            <a:avLst>
              <a:gd name="adj" fmla="val 14286"/>
            </a:avLst>
          </a:prstGeom>
          <a:solidFill>
            <a:srgbClr val="F3EAD0"/>
          </a:solidFill>
          <a:ln w="9525">
            <a:solidFill>
              <a:srgbClr val="D8CCA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45262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566160" y="45262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PASS / FAIL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77240" y="5120640"/>
            <a:ext cx="3291840" cy="274320"/>
          </a:xfrm>
          <a:prstGeom prst="roundRect">
            <a:avLst>
              <a:gd name="adj" fmla="val 26667"/>
            </a:avLst>
          </a:prstGeom>
          <a:solidFill>
            <a:srgbClr val="FAF5E6"/>
          </a:solidFill>
          <a:ln w="12700">
            <a:solidFill>
              <a:srgbClr val="B4530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4530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Placeholders — measured during final test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99632" y="1554480"/>
            <a:ext cx="5440680" cy="4023360"/>
          </a:xfrm>
          <a:prstGeom prst="roundRect">
            <a:avLst>
              <a:gd name="adj" fmla="val 2273"/>
            </a:avLst>
          </a:prstGeom>
          <a:solidFill>
            <a:srgbClr val="FAF5E6"/>
          </a:solidFill>
          <a:ln w="9525">
            <a:solidFill>
              <a:srgbClr val="D8CCA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28232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  ·  ENERGY SAVINGS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28232" y="2103120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FAF5E6"/>
          </a:solidFill>
          <a:ln w="12700">
            <a:solidFill>
              <a:srgbClr val="4B5563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BASELINE: Always-ON / fixed brightness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052560" y="210312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AF5E6"/>
          </a:solidFill>
          <a:ln w="12700">
            <a:solidFill>
              <a:srgbClr val="15803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ADAPTIVE: low idle + full on motion</a:t>
            </a:r>
            <a:endParaRPr lang="en-US" sz="10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6309360" y="2697480"/>
          <a:ext cx="521208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3" name="Text 30"/>
          <p:cNvSpPr txBox="1"/>
          <p:nvPr/>
        </p:nvSpPr>
        <p:spPr>
          <a:xfrm>
            <a:off x="6428232" y="477316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4530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Illustrative shape (25% idle, 10% active) — not measured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6428232" y="5074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80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Saving % = [(E_baseline − E_adaptive) / E_baseline] × 100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E749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Safety response is verified by measured latency, while energy efficiency is verified against a baseline.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749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  ·  24-HOUR SMART STREET SIMULATION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Lighting Behavior Changes With Time, Environment and Activity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HACK THE HORIZON 2.0  |  HTH-SA-06  |  SMART ADAPTIVE STREET LIGHTING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98480" y="6473952"/>
            <a:ext cx="94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106424" y="1600200"/>
            <a:ext cx="1563624" cy="34747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06424" y="1600200"/>
            <a:ext cx="1563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NIGHT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70048" y="1600200"/>
            <a:ext cx="521208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70048" y="1600200"/>
            <a:ext cx="521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EARLY AM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91256" y="1600200"/>
            <a:ext cx="2345436" cy="347472"/>
          </a:xfrm>
          <a:prstGeom prst="rect">
            <a:avLst/>
          </a:prstGeom>
          <a:solidFill>
            <a:srgbClr val="F5E6B8"/>
          </a:solidFill>
          <a:ln w="12700">
            <a:solidFill>
              <a:srgbClr val="F5E6B8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91256" y="1600200"/>
            <a:ext cx="2345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DAYTIME · OFF / MINIMAL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536692" y="1600200"/>
            <a:ext cx="781812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36692" y="1600200"/>
            <a:ext cx="7818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EVENING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318504" y="1600200"/>
            <a:ext cx="1042416" cy="34747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18504" y="1600200"/>
            <a:ext cx="1042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LATE NIGHT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20116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BRIGHTNESS % vs TIME</a:t>
            </a:r>
            <a:endParaRPr lang="en-US" sz="10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548640" y="2148840"/>
          <a:ext cx="69494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594360" y="42062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MOTION EVENTS / HOUR (activity)</a:t>
            </a:r>
            <a:endParaRPr lang="en-US" sz="1000" dirty="0"/>
          </a:p>
        </p:txBody>
      </p:sp>
      <p:graphicFrame>
        <p:nvGraphicFramePr>
          <p:cNvPr id="19" name="Chart 1" descr=""/>
          <p:cNvGraphicFramePr/>
          <p:nvPr/>
        </p:nvGraphicFramePr>
        <p:xfrm>
          <a:off x="548640" y="4343400"/>
          <a:ext cx="694944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Shape 16"/>
          <p:cNvSpPr/>
          <p:nvPr/>
        </p:nvSpPr>
        <p:spPr>
          <a:xfrm>
            <a:off x="7818120" y="1600200"/>
            <a:ext cx="3822192" cy="1691640"/>
          </a:xfrm>
          <a:prstGeom prst="roundRect">
            <a:avLst>
              <a:gd name="adj" fmla="val 5405"/>
            </a:avLst>
          </a:prstGeom>
          <a:solidFill>
            <a:srgbClr val="FAF5E6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046720" y="1737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LOW-TRAFFIC SCENARIO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8046720" y="21488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Few motion events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Longer low-brightness periods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Higher potential energy savings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7818120" y="3429000"/>
            <a:ext cx="3822192" cy="1691640"/>
          </a:xfrm>
          <a:prstGeom prst="roundRect">
            <a:avLst>
              <a:gd name="adj" fmla="val 5405"/>
            </a:avLst>
          </a:prstGeom>
          <a:solidFill>
            <a:srgbClr val="FAF5E6"/>
          </a:solidFill>
          <a:ln w="9525">
            <a:solidFill>
              <a:srgbClr val="0E7490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8046720" y="3566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HIGH-TRAFFIC SCENARIO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8046720" y="39776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Frequent motion events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More full-brightness periods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Increased energy demand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7818120" y="5349240"/>
            <a:ext cx="3822192" cy="594360"/>
          </a:xfrm>
          <a:prstGeom prst="roundRect">
            <a:avLst>
              <a:gd name="adj" fmla="val 12308"/>
            </a:avLst>
          </a:prstGeom>
          <a:solidFill>
            <a:srgbClr val="FAF5E6"/>
          </a:solidFill>
          <a:ln w="12700">
            <a:solidFill>
              <a:srgbClr val="B4530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4530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SIMULATED traffic / sensor data for the MVP — not field-measured (example timeout: 20 s per event)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749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  ·  LIVE MONITORING &amp; PROTOTYPE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Dashboard. Complete Street Status.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HACK THE HORIZON 2.0  |  HTH-SA-06  |  SMART ADAPTIVE STREET LIGHTING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98480" y="6473952"/>
            <a:ext cx="94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486400" cy="3154680"/>
          </a:xfrm>
          <a:prstGeom prst="roundRect">
            <a:avLst>
              <a:gd name="adj" fmla="val 2899"/>
            </a:avLst>
          </a:prstGeom>
          <a:solidFill>
            <a:srgbClr val="FAF5E6"/>
          </a:solidFill>
          <a:ln w="9525">
            <a:solidFill>
              <a:srgbClr val="D8CCA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733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749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PROTOTYPE CONCEPT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1737360" cy="822960"/>
          </a:xfrm>
          <a:prstGeom prst="roundRect">
            <a:avLst>
              <a:gd name="adj" fmla="val 11111"/>
            </a:avLst>
          </a:prstGeom>
          <a:solidFill>
            <a:srgbClr val="F3EAD0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2128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ENERGY NODE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280160" y="2651760"/>
            <a:ext cx="109728" cy="10972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44752" y="2606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80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ONLINE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23360" y="2103120"/>
            <a:ext cx="1737360" cy="822960"/>
          </a:xfrm>
          <a:prstGeom prst="roundRect">
            <a:avLst>
              <a:gd name="adj" fmla="val 11111"/>
            </a:avLst>
          </a:prstGeom>
          <a:solidFill>
            <a:srgbClr val="F3EAD0"/>
          </a:solidFill>
          <a:ln w="15875">
            <a:solidFill>
              <a:srgbClr val="A1620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023360" y="22128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LIGHTING NODE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480560" y="2651760"/>
            <a:ext cx="109728" cy="10972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45152" y="2606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80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ONLINE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23160" y="3383280"/>
            <a:ext cx="1737360" cy="822960"/>
          </a:xfrm>
          <a:prstGeom prst="roundRect">
            <a:avLst>
              <a:gd name="adj" fmla="val 11111"/>
            </a:avLst>
          </a:prstGeom>
          <a:solidFill>
            <a:srgbClr val="F3EAD0"/>
          </a:solidFill>
          <a:ln w="15875">
            <a:solidFill>
              <a:srgbClr val="6D28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423160" y="34930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 NODE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880360" y="3931920"/>
            <a:ext cx="109728" cy="10972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044952" y="38862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80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ONLINE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017520" y="2377440"/>
            <a:ext cx="731520" cy="274320"/>
          </a:xfrm>
          <a:prstGeom prst="roundRect">
            <a:avLst>
              <a:gd name="adj" fmla="val 26667"/>
            </a:avLst>
          </a:prstGeom>
          <a:solidFill>
            <a:srgbClr val="FAF5E6"/>
          </a:solidFill>
          <a:ln w="12700">
            <a:solidFill>
              <a:srgbClr val="1D4ED8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Wi-Fi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60320" y="2514600"/>
            <a:ext cx="438912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023360" y="2514600"/>
            <a:ext cx="-256032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691640" y="2926080"/>
            <a:ext cx="1143000" cy="45720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H="1">
            <a:off x="3749040" y="2926080"/>
            <a:ext cx="1143000" cy="45720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777240" y="438912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530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Illustration — not a photograph of the actual hardware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09360" y="1554480"/>
            <a:ext cx="5330952" cy="370332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25400">
            <a:solidFill>
              <a:srgbClr val="0E749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3796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STREET LIGHT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537960" y="2075688"/>
            <a:ext cx="4873752" cy="0"/>
          </a:xfrm>
          <a:prstGeom prst="line">
            <a:avLst/>
          </a:prstGeom>
          <a:noFill/>
          <a:ln w="12700">
            <a:solidFill>
              <a:srgbClr val="D8CCA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37960" y="21945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AMBIENT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6537960" y="23774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XX %</a:t>
            </a:r>
            <a:endParaRPr lang="en-US" sz="1900" dirty="0"/>
          </a:p>
        </p:txBody>
      </p:sp>
      <p:sp>
        <p:nvSpPr>
          <p:cNvPr id="31" name="Text 29"/>
          <p:cNvSpPr txBox="1"/>
          <p:nvPr/>
        </p:nvSpPr>
        <p:spPr>
          <a:xfrm>
            <a:off x="6537960" y="272491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MOTION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6537960" y="29077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30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DETECTED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6537960" y="325526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LIGHT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6537960" y="34381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580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100 %</a:t>
            </a:r>
            <a:endParaRPr lang="en-US" sz="1900" dirty="0"/>
          </a:p>
        </p:txBody>
      </p:sp>
      <p:sp>
        <p:nvSpPr>
          <p:cNvPr id="35" name="Text 33"/>
          <p:cNvSpPr txBox="1"/>
          <p:nvPr/>
        </p:nvSpPr>
        <p:spPr>
          <a:xfrm>
            <a:off x="6537960" y="378561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RAMP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6537960" y="39684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XX ms</a:t>
            </a:r>
            <a:endParaRPr lang="en-US" sz="1900" dirty="0"/>
          </a:p>
        </p:txBody>
      </p:sp>
      <p:sp>
        <p:nvSpPr>
          <p:cNvPr id="37" name="Text 35"/>
          <p:cNvSpPr txBox="1"/>
          <p:nvPr/>
        </p:nvSpPr>
        <p:spPr>
          <a:xfrm>
            <a:off x="6537960" y="43159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SAFETY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6537960" y="44988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580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PASS</a:t>
            </a:r>
            <a:endParaRPr lang="en-US" sz="1900" dirty="0"/>
          </a:p>
        </p:txBody>
      </p:sp>
      <p:sp>
        <p:nvSpPr>
          <p:cNvPr id="39" name="Text 37"/>
          <p:cNvSpPr txBox="1"/>
          <p:nvPr/>
        </p:nvSpPr>
        <p:spPr>
          <a:xfrm>
            <a:off x="9052560" y="21945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VOLTAGE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9052560" y="23774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X.XX V</a:t>
            </a:r>
            <a:endParaRPr lang="en-US" sz="1900" dirty="0"/>
          </a:p>
        </p:txBody>
      </p:sp>
      <p:sp>
        <p:nvSpPr>
          <p:cNvPr id="41" name="Text 39"/>
          <p:cNvSpPr txBox="1"/>
          <p:nvPr/>
        </p:nvSpPr>
        <p:spPr>
          <a:xfrm>
            <a:off x="9052560" y="272491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CURRENT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9052560" y="29077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X.XX A</a:t>
            </a:r>
            <a:endParaRPr lang="en-US" sz="1900" dirty="0"/>
          </a:p>
        </p:txBody>
      </p:sp>
      <p:sp>
        <p:nvSpPr>
          <p:cNvPr id="43" name="Text 41"/>
          <p:cNvSpPr txBox="1"/>
          <p:nvPr/>
        </p:nvSpPr>
        <p:spPr>
          <a:xfrm>
            <a:off x="9052560" y="325526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POWER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9052560" y="34381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X.XX W</a:t>
            </a:r>
            <a:endParaRPr lang="en-US" sz="1900" dirty="0"/>
          </a:p>
        </p:txBody>
      </p:sp>
      <p:sp>
        <p:nvSpPr>
          <p:cNvPr id="45" name="Text 43"/>
          <p:cNvSpPr txBox="1"/>
          <p:nvPr/>
        </p:nvSpPr>
        <p:spPr>
          <a:xfrm>
            <a:off x="9052560" y="378561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BATTERY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9052560" y="39684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XX %</a:t>
            </a:r>
            <a:endParaRPr lang="en-US" sz="1900" dirty="0"/>
          </a:p>
        </p:txBody>
      </p:sp>
      <p:sp>
        <p:nvSpPr>
          <p:cNvPr id="47" name="Text 45"/>
          <p:cNvSpPr txBox="1"/>
          <p:nvPr/>
        </p:nvSpPr>
        <p:spPr>
          <a:xfrm>
            <a:off x="9052560" y="43159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SAVING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9052560" y="44988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580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XX.X %</a:t>
            </a:r>
            <a:endParaRPr lang="en-US" sz="1900" dirty="0"/>
          </a:p>
        </p:txBody>
      </p:sp>
      <p:sp>
        <p:nvSpPr>
          <p:cNvPr id="49" name="Text 47"/>
          <p:cNvSpPr txBox="1"/>
          <p:nvPr/>
        </p:nvSpPr>
        <p:spPr>
          <a:xfrm>
            <a:off x="6537960" y="495604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B4530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Mockup — placeholder values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48640" y="484632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FAF5E6"/>
          </a:solidFill>
          <a:ln w="12700">
            <a:solidFill>
              <a:srgbClr val="15803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ENERGY NODE · ONLINE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423160" y="484632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FAF5E6"/>
          </a:solidFill>
          <a:ln w="12700">
            <a:solidFill>
              <a:srgbClr val="15803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LIGHTING NODE · ONLINE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297680" y="484632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FAF5E6"/>
          </a:solidFill>
          <a:ln w="12700">
            <a:solidFill>
              <a:srgbClr val="15803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 NODE · ONLINE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548640" y="5303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80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Wi-Fi connected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48640" y="5623560"/>
            <a:ext cx="2697480" cy="594360"/>
          </a:xfrm>
          <a:prstGeom prst="roundRect">
            <a:avLst>
              <a:gd name="adj" fmla="val 15385"/>
            </a:avLst>
          </a:prstGeom>
          <a:solidFill>
            <a:srgbClr val="FAF5E6"/>
          </a:solidFill>
          <a:ln w="9525">
            <a:solidFill>
              <a:srgbClr val="D8CCAA"/>
            </a:solidFill>
            <a:prstDash val="solid"/>
          </a:ln>
        </p:spPr>
      </p:sp>
      <p:pic>
        <p:nvPicPr>
          <p:cNvPr id="5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788152"/>
            <a:ext cx="256032" cy="256032"/>
          </a:xfrm>
          <a:prstGeom prst="rect">
            <a:avLst/>
          </a:prstGeom>
        </p:spPr>
      </p:pic>
      <p:sp>
        <p:nvSpPr>
          <p:cNvPr id="56" name="Text 53"/>
          <p:cNvSpPr txBox="1"/>
          <p:nvPr/>
        </p:nvSpPr>
        <p:spPr>
          <a:xfrm>
            <a:off x="1051560" y="56235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Button 1 → Auto / Manual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3346704" y="5623560"/>
            <a:ext cx="2697480" cy="594360"/>
          </a:xfrm>
          <a:prstGeom prst="roundRect">
            <a:avLst>
              <a:gd name="adj" fmla="val 15385"/>
            </a:avLst>
          </a:prstGeom>
          <a:solidFill>
            <a:srgbClr val="FAF5E6"/>
          </a:solidFill>
          <a:ln w="9525">
            <a:solidFill>
              <a:srgbClr val="D8CCAA"/>
            </a:solidFill>
            <a:prstDash val="solid"/>
          </a:ln>
        </p:spPr>
      </p:sp>
      <p:pic>
        <p:nvPicPr>
          <p:cNvPr id="5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864" y="5788152"/>
            <a:ext cx="256032" cy="256032"/>
          </a:xfrm>
          <a:prstGeom prst="rect">
            <a:avLst/>
          </a:prstGeom>
        </p:spPr>
      </p:pic>
      <p:sp>
        <p:nvSpPr>
          <p:cNvPr id="59" name="Text 55"/>
          <p:cNvSpPr txBox="1"/>
          <p:nvPr/>
        </p:nvSpPr>
        <p:spPr>
          <a:xfrm>
            <a:off x="3849624" y="56235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Button 2 → Brightness Override</a:t>
            </a:r>
            <a:endParaRPr lang="en-US" sz="1100" dirty="0"/>
          </a:p>
        </p:txBody>
      </p:sp>
      <p:sp>
        <p:nvSpPr>
          <p:cNvPr id="60" name="Shape 56"/>
          <p:cNvSpPr/>
          <p:nvPr/>
        </p:nvSpPr>
        <p:spPr>
          <a:xfrm>
            <a:off x="6144768" y="5623560"/>
            <a:ext cx="2697480" cy="594360"/>
          </a:xfrm>
          <a:prstGeom prst="roundRect">
            <a:avLst>
              <a:gd name="adj" fmla="val 15385"/>
            </a:avLst>
          </a:prstGeom>
          <a:solidFill>
            <a:srgbClr val="FAF5E6"/>
          </a:solidFill>
          <a:ln w="9525">
            <a:solidFill>
              <a:srgbClr val="D8CCAA"/>
            </a:solidFill>
            <a:prstDash val="solid"/>
          </a:ln>
        </p:spPr>
      </p:sp>
      <p:pic>
        <p:nvPicPr>
          <p:cNvPr id="6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5788152"/>
            <a:ext cx="256032" cy="256032"/>
          </a:xfrm>
          <a:prstGeom prst="rect">
            <a:avLst/>
          </a:prstGeom>
        </p:spPr>
      </p:pic>
      <p:sp>
        <p:nvSpPr>
          <p:cNvPr id="62" name="Text 57"/>
          <p:cNvSpPr txBox="1"/>
          <p:nvPr/>
        </p:nvSpPr>
        <p:spPr>
          <a:xfrm>
            <a:off x="6647688" y="56235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Button 3 → Screen / Node Select</a:t>
            </a:r>
            <a:endParaRPr lang="en-US" sz="1100" dirty="0"/>
          </a:p>
        </p:txBody>
      </p:sp>
      <p:sp>
        <p:nvSpPr>
          <p:cNvPr id="63" name="Shape 58"/>
          <p:cNvSpPr/>
          <p:nvPr/>
        </p:nvSpPr>
        <p:spPr>
          <a:xfrm>
            <a:off x="8942832" y="5623560"/>
            <a:ext cx="2697480" cy="594360"/>
          </a:xfrm>
          <a:prstGeom prst="roundRect">
            <a:avLst>
              <a:gd name="adj" fmla="val 15385"/>
            </a:avLst>
          </a:prstGeom>
          <a:solidFill>
            <a:srgbClr val="FAF5E6"/>
          </a:solidFill>
          <a:ln w="9525">
            <a:solidFill>
              <a:srgbClr val="D8CCAA"/>
            </a:solidFill>
            <a:prstDash val="solid"/>
          </a:ln>
        </p:spPr>
      </p:sp>
      <p:pic>
        <p:nvPicPr>
          <p:cNvPr id="6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9992" y="5788152"/>
            <a:ext cx="256032" cy="256032"/>
          </a:xfrm>
          <a:prstGeom prst="rect">
            <a:avLst/>
          </a:prstGeom>
        </p:spPr>
      </p:pic>
      <p:sp>
        <p:nvSpPr>
          <p:cNvPr id="65" name="Text 59"/>
          <p:cNvSpPr txBox="1"/>
          <p:nvPr/>
        </p:nvSpPr>
        <p:spPr>
          <a:xfrm>
            <a:off x="9445752" y="56235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Buzzer → Alerts / Faults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749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 ·  IMPACT, SCALABILITY &amp; CONCLUSION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a Smart Prototype to a Smarter Street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HACK THE HORIZON 2.0  |  HTH-SA-06  |  SMART ADAPTIVE STREET LIGHTING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98480" y="6473952"/>
            <a:ext cx="94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AF5E6"/>
          </a:solidFill>
          <a:ln w="9525">
            <a:solidFill>
              <a:srgbClr val="D8CC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755648"/>
            <a:ext cx="457200" cy="457200"/>
          </a:xfrm>
          <a:prstGeom prst="ellipse">
            <a:avLst/>
          </a:prstGeom>
          <a:solidFill>
            <a:srgbClr val="EADFC0"/>
          </a:solidFill>
          <a:ln w="12700">
            <a:solidFill>
              <a:srgbClr val="EADFC0">
                <a:alpha val="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869948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5880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ENERGY EFFICIENCY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3774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Reduce unnecessary full-brightness operation during idle periods.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37560" y="160020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AF5E6"/>
          </a:solidFill>
          <a:ln w="9525">
            <a:solidFill>
              <a:srgbClr val="D8CCA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20440" y="1755648"/>
            <a:ext cx="457200" cy="457200"/>
          </a:xfrm>
          <a:prstGeom prst="ellipse">
            <a:avLst/>
          </a:prstGeom>
          <a:solidFill>
            <a:srgbClr val="EADFC0"/>
          </a:solidFill>
          <a:ln w="12700">
            <a:solidFill>
              <a:srgbClr val="EADFC0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740" y="1869948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114800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SAFETY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3520440" y="23774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Rapidly increase illumination when movement is detected.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126480" y="160020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AF5E6"/>
          </a:solidFill>
          <a:ln w="9525">
            <a:solidFill>
              <a:srgbClr val="D8CCA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309360" y="1755648"/>
            <a:ext cx="457200" cy="457200"/>
          </a:xfrm>
          <a:prstGeom prst="ellipse">
            <a:avLst/>
          </a:prstGeom>
          <a:solidFill>
            <a:srgbClr val="EADFC0"/>
          </a:solidFill>
          <a:ln w="12700">
            <a:solidFill>
              <a:srgbClr val="EADFC0">
                <a:alpha val="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1869948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903720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VISIBILITY &amp; MONITORING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6309360" y="23774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lighting, energy and system-health information.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8915400" y="160020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AF5E6"/>
          </a:solidFill>
          <a:ln w="9525">
            <a:solidFill>
              <a:srgbClr val="D8CCA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098280" y="1755648"/>
            <a:ext cx="457200" cy="457200"/>
          </a:xfrm>
          <a:prstGeom prst="ellipse">
            <a:avLst/>
          </a:prstGeom>
          <a:solidFill>
            <a:srgbClr val="EADFC0"/>
          </a:solidFill>
          <a:ln w="12700">
            <a:solidFill>
              <a:srgbClr val="EADFC0">
                <a:alpha val="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2580" y="1869948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692640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9098280" y="23774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Extend from a prototype street segment to a network of connected city lighting nodes.</a:t>
            </a:r>
            <a:endParaRPr lang="en-US" sz="115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3566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749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EXTENSIONS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548640" y="3886200"/>
            <a:ext cx="1508760" cy="594360"/>
          </a:xfrm>
          <a:prstGeom prst="roundRect">
            <a:avLst>
              <a:gd name="adj" fmla="val 12308"/>
            </a:avLst>
          </a:prstGeom>
          <a:solidFill>
            <a:srgbClr val="FAF5E6"/>
          </a:solidFill>
          <a:ln w="12700">
            <a:solidFill>
              <a:srgbClr val="D8CCA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Traffic-density-aware lighting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2167128" y="3886200"/>
            <a:ext cx="1508760" cy="594360"/>
          </a:xfrm>
          <a:prstGeom prst="roundRect">
            <a:avLst>
              <a:gd name="adj" fmla="val 12308"/>
            </a:avLst>
          </a:prstGeom>
          <a:solidFill>
            <a:srgbClr val="FAF5E6"/>
          </a:solidFill>
          <a:ln w="12700">
            <a:solidFill>
              <a:srgbClr val="D8CCA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Weather / fog / rain adaptation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3785616" y="3886200"/>
            <a:ext cx="1508760" cy="594360"/>
          </a:xfrm>
          <a:prstGeom prst="roundRect">
            <a:avLst>
              <a:gd name="adj" fmla="val 12308"/>
            </a:avLst>
          </a:prstGeom>
          <a:solidFill>
            <a:srgbClr val="FAF5E6"/>
          </a:solidFill>
          <a:ln w="12700">
            <a:solidFill>
              <a:srgbClr val="D8CCA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Fault detection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5404104" y="3886200"/>
            <a:ext cx="1508760" cy="594360"/>
          </a:xfrm>
          <a:prstGeom prst="roundRect">
            <a:avLst>
              <a:gd name="adj" fmla="val 12308"/>
            </a:avLst>
          </a:prstGeom>
          <a:solidFill>
            <a:srgbClr val="FAF5E6"/>
          </a:solidFill>
          <a:ln w="12700">
            <a:solidFill>
              <a:srgbClr val="D8CCA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Predictive maintenance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7022592" y="3886200"/>
            <a:ext cx="1508760" cy="594360"/>
          </a:xfrm>
          <a:prstGeom prst="roundRect">
            <a:avLst>
              <a:gd name="adj" fmla="val 12308"/>
            </a:avLst>
          </a:prstGeom>
          <a:solidFill>
            <a:srgbClr val="FAF5E6"/>
          </a:solidFill>
          <a:ln w="12700">
            <a:solidFill>
              <a:srgbClr val="D8CCA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Solar integration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8641080" y="3886200"/>
            <a:ext cx="1508760" cy="594360"/>
          </a:xfrm>
          <a:prstGeom prst="roundRect">
            <a:avLst>
              <a:gd name="adj" fmla="val 12308"/>
            </a:avLst>
          </a:prstGeom>
          <a:solidFill>
            <a:srgbClr val="FAF5E6"/>
          </a:solidFill>
          <a:ln w="12700">
            <a:solidFill>
              <a:srgbClr val="D8CCA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Remote municipal dashboard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10259568" y="3886200"/>
            <a:ext cx="1508760" cy="594360"/>
          </a:xfrm>
          <a:prstGeom prst="roundRect">
            <a:avLst>
              <a:gd name="adj" fmla="val 12308"/>
            </a:avLst>
          </a:prstGeom>
          <a:solidFill>
            <a:srgbClr val="FAF5E6"/>
          </a:solidFill>
          <a:ln w="12700">
            <a:solidFill>
              <a:srgbClr val="D8CCA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AI-based traffic prediction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548640" y="475488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AF5E6"/>
          </a:solidFill>
          <a:ln w="12700">
            <a:solidFill>
              <a:srgbClr val="0E749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Sense</a:t>
            </a:r>
            <a:endParaRPr lang="en-US" sz="1400" dirty="0"/>
          </a:p>
        </p:txBody>
      </p:sp>
      <p:sp>
        <p:nvSpPr>
          <p:cNvPr id="35" name="Shape 29"/>
          <p:cNvSpPr/>
          <p:nvPr/>
        </p:nvSpPr>
        <p:spPr>
          <a:xfrm>
            <a:off x="2404872" y="4983480"/>
            <a:ext cx="402336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36" name="Text 30"/>
          <p:cNvSpPr/>
          <p:nvPr/>
        </p:nvSpPr>
        <p:spPr>
          <a:xfrm>
            <a:off x="2834640" y="475488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AF5E6"/>
          </a:solidFill>
          <a:ln w="12700">
            <a:solidFill>
              <a:srgbClr val="0E749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Decide</a:t>
            </a:r>
            <a:endParaRPr lang="en-US" sz="1400" dirty="0"/>
          </a:p>
        </p:txBody>
      </p:sp>
      <p:sp>
        <p:nvSpPr>
          <p:cNvPr id="37" name="Shape 31"/>
          <p:cNvSpPr/>
          <p:nvPr/>
        </p:nvSpPr>
        <p:spPr>
          <a:xfrm>
            <a:off x="4690872" y="4983480"/>
            <a:ext cx="402336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38" name="Text 32"/>
          <p:cNvSpPr/>
          <p:nvPr/>
        </p:nvSpPr>
        <p:spPr>
          <a:xfrm>
            <a:off x="5120640" y="475488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AF5E6"/>
          </a:solidFill>
          <a:ln w="12700">
            <a:solidFill>
              <a:srgbClr val="0E749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Respond</a:t>
            </a:r>
            <a:endParaRPr lang="en-US" sz="1400" dirty="0"/>
          </a:p>
        </p:txBody>
      </p:sp>
      <p:sp>
        <p:nvSpPr>
          <p:cNvPr id="39" name="Shape 33"/>
          <p:cNvSpPr/>
          <p:nvPr/>
        </p:nvSpPr>
        <p:spPr>
          <a:xfrm>
            <a:off x="6976872" y="4983480"/>
            <a:ext cx="402336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40" name="Text 34"/>
          <p:cNvSpPr/>
          <p:nvPr/>
        </p:nvSpPr>
        <p:spPr>
          <a:xfrm>
            <a:off x="7406640" y="475488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AF5E6"/>
          </a:solidFill>
          <a:ln w="12700">
            <a:solidFill>
              <a:srgbClr val="0E749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Measure</a:t>
            </a:r>
            <a:endParaRPr lang="en-US" sz="1400" dirty="0"/>
          </a:p>
        </p:txBody>
      </p:sp>
      <p:sp>
        <p:nvSpPr>
          <p:cNvPr id="41" name="Shape 35"/>
          <p:cNvSpPr/>
          <p:nvPr/>
        </p:nvSpPr>
        <p:spPr>
          <a:xfrm>
            <a:off x="9262872" y="4983480"/>
            <a:ext cx="402336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42" name="Text 36"/>
          <p:cNvSpPr/>
          <p:nvPr/>
        </p:nvSpPr>
        <p:spPr>
          <a:xfrm>
            <a:off x="9692640" y="475488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AF5E6"/>
          </a:solidFill>
          <a:ln w="12700">
            <a:solidFill>
              <a:srgbClr val="0E749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Optimize</a:t>
            </a:r>
            <a:endParaRPr lang="en-US" sz="1400" dirty="0"/>
          </a:p>
        </p:txBody>
      </p:sp>
      <p:sp>
        <p:nvSpPr>
          <p:cNvPr id="43" name="Text 37"/>
          <p:cNvSpPr txBox="1"/>
          <p:nvPr/>
        </p:nvSpPr>
        <p:spPr>
          <a:xfrm>
            <a:off x="914400" y="53492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future of street lighting is not simply brighter lighting — it is smarter, responsive and measurable lighting.</a:t>
            </a:r>
            <a:endParaRPr lang="en-US" sz="1800" dirty="0"/>
          </a:p>
        </p:txBody>
      </p:sp>
      <p:sp>
        <p:nvSpPr>
          <p:cNvPr id="44" name="Text 38"/>
          <p:cNvSpPr txBox="1"/>
          <p:nvPr/>
        </p:nvSpPr>
        <p:spPr>
          <a:xfrm>
            <a:off x="548640" y="6053328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HTH-SA-06 | SMART ADAPTIVE STREET LIGHTING     TEAM NAME | Saveetha School of Engineering, SIMATS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Adaptive Street Lighting — HTH-SA-06</dc:title>
  <dc:subject>PptxGenJS Presentation</dc:subject>
  <dc:creator>PptxGenJS</dc:creator>
  <cp:lastModifiedBy>PptxGenJS</cp:lastModifiedBy>
  <cp:revision>1</cp:revision>
  <dcterms:created xsi:type="dcterms:W3CDTF">2026-09-24T06:36:42Z</dcterms:created>
  <dcterms:modified xsi:type="dcterms:W3CDTF">2026-09-24T06:36:42Z</dcterms:modified>
</cp:coreProperties>
</file>